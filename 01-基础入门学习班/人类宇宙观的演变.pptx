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25.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71" r:id="rId5"/>
    <p:sldId id="272" r:id="rId6"/>
    <p:sldId id="273" r:id="rId7"/>
    <p:sldId id="274" r:id="rId8"/>
    <p:sldId id="275" r:id="rId9"/>
    <p:sldId id="276" r:id="rId10"/>
    <p:sldId id="277" r:id="rId11"/>
    <p:sldId id="279" r:id="rId12"/>
    <p:sldId id="278" r:id="rId13"/>
    <p:sldId id="266" r:id="rId14"/>
    <p:sldId id="280" r:id="rId15"/>
    <p:sldId id="260" r:id="rId16"/>
    <p:sldId id="258" r:id="rId17"/>
    <p:sldId id="261" r:id="rId18"/>
    <p:sldId id="262" r:id="rId19"/>
    <p:sldId id="282" r:id="rId20"/>
    <p:sldId id="263" r:id="rId21"/>
    <p:sldId id="285" r:id="rId22"/>
    <p:sldId id="281" r:id="rId23"/>
    <p:sldId id="283" r:id="rId24"/>
    <p:sldId id="286" r:id="rId25"/>
    <p:sldId id="287" r:id="rId26"/>
    <p:sldId id="267" r:id="rId27"/>
    <p:sldId id="291" r:id="rId28"/>
    <p:sldId id="289" r:id="rId29"/>
    <p:sldId id="290" r:id="rId30"/>
    <p:sldId id="292" r:id="rId31"/>
    <p:sldId id="284" r:id="rId32"/>
    <p:sldId id="268" r:id="rId33"/>
    <p:sldId id="293" r:id="rId34"/>
    <p:sldId id="294" r:id="rId35"/>
    <p:sldId id="295" r:id="rId36"/>
    <p:sldId id="296" r:id="rId37"/>
    <p:sldId id="297" r:id="rId38"/>
    <p:sldId id="298" r:id="rId39"/>
    <p:sldId id="299" r:id="rId40"/>
    <p:sldId id="301" r:id="rId41"/>
    <p:sldId id="300" r:id="rId42"/>
    <p:sldId id="302" r:id="rId43"/>
    <p:sldId id="303" r:id="rId44"/>
    <p:sldId id="304" r:id="rId45"/>
    <p:sldId id="305" r:id="rId46"/>
    <p:sldId id="306" r:id="rId47"/>
    <p:sldId id="307" r:id="rId48"/>
    <p:sldId id="308" r:id="rId49"/>
    <p:sldId id="269" r:id="rId50"/>
    <p:sldId id="310" r:id="rId51"/>
    <p:sldId id="313" r:id="rId52"/>
    <p:sldId id="270" r:id="rId53"/>
    <p:sldId id="311" r:id="rId54"/>
    <p:sldId id="312" r:id="rId55"/>
    <p:sldId id="314"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12" autoAdjust="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72D0E6-3FFB-488F-8D9F-1D25363B387E}" type="doc">
      <dgm:prSet loTypeId="urn:microsoft.com/office/officeart/2008/layout/SquareAccentList" loCatId="list" qsTypeId="urn:microsoft.com/office/officeart/2005/8/quickstyle/simple1" qsCatId="simple" csTypeId="urn:microsoft.com/office/officeart/2005/8/colors/accent1_2" csCatId="accent1" phldr="1"/>
      <dgm:spPr/>
      <dgm:t>
        <a:bodyPr/>
        <a:lstStyle/>
        <a:p>
          <a:endParaRPr lang="zh-CN" altLang="en-US"/>
        </a:p>
      </dgm:t>
    </dgm:pt>
    <dgm:pt modelId="{D1EB29BD-7B3C-466D-8F31-9BDF54D79B67}">
      <dgm:prSet phldrT="[文本]"/>
      <dgm:spPr/>
      <dgm:t>
        <a:bodyPr/>
        <a:lstStyle/>
        <a:p>
          <a:r>
            <a:rPr lang="zh-CN" altLang="en-US" dirty="0" smtClean="0"/>
            <a:t>古人朴素的世界观</a:t>
          </a:r>
          <a:endParaRPr lang="zh-CN" altLang="en-US" dirty="0"/>
        </a:p>
      </dgm:t>
    </dgm:pt>
    <dgm:pt modelId="{35479491-7F91-42FA-80C2-E36ED42B9E85}" type="parTrans" cxnId="{D2BF91D6-BE47-4046-8899-DA254EEB25A6}">
      <dgm:prSet/>
      <dgm:spPr/>
      <dgm:t>
        <a:bodyPr/>
        <a:lstStyle/>
        <a:p>
          <a:endParaRPr lang="zh-CN" altLang="en-US"/>
        </a:p>
      </dgm:t>
    </dgm:pt>
    <dgm:pt modelId="{E0C42C31-4DD7-49DE-BE99-3F64DC977157}" type="sibTrans" cxnId="{D2BF91D6-BE47-4046-8899-DA254EEB25A6}">
      <dgm:prSet/>
      <dgm:spPr/>
      <dgm:t>
        <a:bodyPr/>
        <a:lstStyle/>
        <a:p>
          <a:endParaRPr lang="zh-CN" altLang="en-US"/>
        </a:p>
      </dgm:t>
    </dgm:pt>
    <dgm:pt modelId="{2916E205-CCEA-4CA1-9354-EAD1EBD33EFE}">
      <dgm:prSet phldrT="[文本]"/>
      <dgm:spPr/>
      <dgm:t>
        <a:bodyPr/>
        <a:lstStyle/>
        <a:p>
          <a:r>
            <a:rPr lang="zh-CN" altLang="en-US" dirty="0" smtClean="0"/>
            <a:t>中国古代宇宙观</a:t>
          </a:r>
          <a:endParaRPr lang="zh-CN" altLang="en-US" dirty="0"/>
        </a:p>
      </dgm:t>
    </dgm:pt>
    <dgm:pt modelId="{AFEF6B0A-89CB-4521-8253-252A99067836}" type="parTrans" cxnId="{8FB30F5D-1478-4612-8618-085DBCF4D678}">
      <dgm:prSet/>
      <dgm:spPr/>
      <dgm:t>
        <a:bodyPr/>
        <a:lstStyle/>
        <a:p>
          <a:endParaRPr lang="zh-CN" altLang="en-US"/>
        </a:p>
      </dgm:t>
    </dgm:pt>
    <dgm:pt modelId="{FFAC200E-9CE4-41D5-AB7F-DAE37E979F89}" type="sibTrans" cxnId="{8FB30F5D-1478-4612-8618-085DBCF4D678}">
      <dgm:prSet/>
      <dgm:spPr/>
      <dgm:t>
        <a:bodyPr/>
        <a:lstStyle/>
        <a:p>
          <a:endParaRPr lang="zh-CN" altLang="en-US"/>
        </a:p>
      </dgm:t>
    </dgm:pt>
    <dgm:pt modelId="{D2D46C83-94A6-4004-AE04-683121F61681}">
      <dgm:prSet phldrT="[文本]"/>
      <dgm:spPr/>
      <dgm:t>
        <a:bodyPr/>
        <a:lstStyle/>
        <a:p>
          <a:r>
            <a:rPr lang="zh-CN" altLang="en-US" dirty="0" smtClean="0"/>
            <a:t>古希腊人的宇宙观</a:t>
          </a:r>
          <a:endParaRPr lang="zh-CN" altLang="en-US" dirty="0"/>
        </a:p>
      </dgm:t>
    </dgm:pt>
    <dgm:pt modelId="{C832757B-B0E0-452F-B407-6B6DE21398F8}" type="parTrans" cxnId="{31276BF9-61A4-4C07-A207-6BE383F40C66}">
      <dgm:prSet/>
      <dgm:spPr/>
      <dgm:t>
        <a:bodyPr/>
        <a:lstStyle/>
        <a:p>
          <a:endParaRPr lang="zh-CN" altLang="en-US"/>
        </a:p>
      </dgm:t>
    </dgm:pt>
    <dgm:pt modelId="{2BA58861-6CCF-4DCC-907C-3952EDE7DA10}" type="sibTrans" cxnId="{31276BF9-61A4-4C07-A207-6BE383F40C66}">
      <dgm:prSet/>
      <dgm:spPr/>
      <dgm:t>
        <a:bodyPr/>
        <a:lstStyle/>
        <a:p>
          <a:endParaRPr lang="zh-CN" altLang="en-US"/>
        </a:p>
      </dgm:t>
    </dgm:pt>
    <dgm:pt modelId="{0CCA2B14-6124-4A7E-BCDA-B2C9BEC443D9}">
      <dgm:prSet phldrT="[文本]"/>
      <dgm:spPr/>
      <dgm:t>
        <a:bodyPr/>
        <a:lstStyle/>
        <a:p>
          <a:r>
            <a:rPr lang="zh-CN" altLang="en-US" dirty="0" smtClean="0"/>
            <a:t>地心说</a:t>
          </a:r>
          <a:endParaRPr lang="zh-CN" altLang="en-US" dirty="0"/>
        </a:p>
      </dgm:t>
    </dgm:pt>
    <dgm:pt modelId="{871D49A5-BC37-44A8-B563-19953237FECE}" type="parTrans" cxnId="{F46EB95D-AB4F-441B-890E-EFD798444565}">
      <dgm:prSet/>
      <dgm:spPr/>
      <dgm:t>
        <a:bodyPr/>
        <a:lstStyle/>
        <a:p>
          <a:endParaRPr lang="zh-CN" altLang="en-US"/>
        </a:p>
      </dgm:t>
    </dgm:pt>
    <dgm:pt modelId="{C5A895ED-71E0-495D-990E-4283266DC3CB}" type="sibTrans" cxnId="{F46EB95D-AB4F-441B-890E-EFD798444565}">
      <dgm:prSet/>
      <dgm:spPr/>
      <dgm:t>
        <a:bodyPr/>
        <a:lstStyle/>
        <a:p>
          <a:endParaRPr lang="zh-CN" altLang="en-US"/>
        </a:p>
      </dgm:t>
    </dgm:pt>
    <dgm:pt modelId="{8BB4DC16-0410-458B-9ECB-B58BA26BF497}">
      <dgm:prSet phldrT="[文本]"/>
      <dgm:spPr/>
      <dgm:t>
        <a:bodyPr/>
        <a:lstStyle/>
        <a:p>
          <a:r>
            <a:rPr lang="zh-CN" altLang="en-US" dirty="0" smtClean="0"/>
            <a:t>近现代世界观</a:t>
          </a:r>
          <a:endParaRPr lang="zh-CN" altLang="en-US" dirty="0"/>
        </a:p>
      </dgm:t>
    </dgm:pt>
    <dgm:pt modelId="{6050E56E-FF2C-4426-B137-F267C7317644}" type="parTrans" cxnId="{9D8A080C-B050-40C6-A1FE-D3B6BE40B624}">
      <dgm:prSet/>
      <dgm:spPr/>
      <dgm:t>
        <a:bodyPr/>
        <a:lstStyle/>
        <a:p>
          <a:endParaRPr lang="zh-CN" altLang="en-US"/>
        </a:p>
      </dgm:t>
    </dgm:pt>
    <dgm:pt modelId="{E1686CAC-912C-4F7D-9909-EC30AF879031}" type="sibTrans" cxnId="{9D8A080C-B050-40C6-A1FE-D3B6BE40B624}">
      <dgm:prSet/>
      <dgm:spPr/>
      <dgm:t>
        <a:bodyPr/>
        <a:lstStyle/>
        <a:p>
          <a:endParaRPr lang="zh-CN" altLang="en-US"/>
        </a:p>
      </dgm:t>
    </dgm:pt>
    <dgm:pt modelId="{31E8DF2F-96AE-498E-A394-3AA325BEDBED}">
      <dgm:prSet phldrT="[文本]"/>
      <dgm:spPr/>
      <dgm:t>
        <a:bodyPr/>
        <a:lstStyle/>
        <a:p>
          <a:r>
            <a:rPr lang="zh-CN" altLang="en-US" dirty="0" smtClean="0"/>
            <a:t>日心说</a:t>
          </a:r>
          <a:endParaRPr lang="zh-CN" altLang="en-US" dirty="0"/>
        </a:p>
      </dgm:t>
    </dgm:pt>
    <dgm:pt modelId="{7CAAE186-8D9F-45D2-9F00-80016B803703}" type="parTrans" cxnId="{986D8F9E-5387-4119-90D6-FA73DD993B0D}">
      <dgm:prSet/>
      <dgm:spPr/>
      <dgm:t>
        <a:bodyPr/>
        <a:lstStyle/>
        <a:p>
          <a:endParaRPr lang="zh-CN" altLang="en-US"/>
        </a:p>
      </dgm:t>
    </dgm:pt>
    <dgm:pt modelId="{DB931A10-4028-41F1-A2CE-0788C4CF4C02}" type="sibTrans" cxnId="{986D8F9E-5387-4119-90D6-FA73DD993B0D}">
      <dgm:prSet/>
      <dgm:spPr/>
      <dgm:t>
        <a:bodyPr/>
        <a:lstStyle/>
        <a:p>
          <a:endParaRPr lang="zh-CN" altLang="en-US"/>
        </a:p>
      </dgm:t>
    </dgm:pt>
    <dgm:pt modelId="{E4753E1F-CEC5-4C30-87EB-6267CF4AEE65}">
      <dgm:prSet phldrT="[文本]"/>
      <dgm:spPr/>
      <dgm:t>
        <a:bodyPr/>
        <a:lstStyle/>
        <a:p>
          <a:r>
            <a:rPr lang="zh-CN" altLang="en-US" dirty="0" smtClean="0"/>
            <a:t>银河系与河外星系</a:t>
          </a:r>
          <a:endParaRPr lang="zh-CN" altLang="en-US" dirty="0"/>
        </a:p>
      </dgm:t>
    </dgm:pt>
    <dgm:pt modelId="{2B9FA205-DC0C-4340-8081-4FFA600A3AF3}" type="parTrans" cxnId="{96431786-DDA8-4A57-903E-9F8803E3AC1C}">
      <dgm:prSet/>
      <dgm:spPr/>
      <dgm:t>
        <a:bodyPr/>
        <a:lstStyle/>
        <a:p>
          <a:endParaRPr lang="zh-CN" altLang="en-US"/>
        </a:p>
      </dgm:t>
    </dgm:pt>
    <dgm:pt modelId="{FD400514-94B7-464B-AC2A-9050E2EB3C33}" type="sibTrans" cxnId="{96431786-DDA8-4A57-903E-9F8803E3AC1C}">
      <dgm:prSet/>
      <dgm:spPr/>
      <dgm:t>
        <a:bodyPr/>
        <a:lstStyle/>
        <a:p>
          <a:endParaRPr lang="zh-CN" altLang="en-US"/>
        </a:p>
      </dgm:t>
    </dgm:pt>
    <dgm:pt modelId="{A7CBE465-E868-4E20-A5C5-E63E5E286340}">
      <dgm:prSet phldrT="[文本]"/>
      <dgm:spPr/>
      <dgm:t>
        <a:bodyPr/>
        <a:lstStyle/>
        <a:p>
          <a:r>
            <a:rPr lang="zh-CN" altLang="en-US" dirty="0" smtClean="0"/>
            <a:t>宇宙的演化</a:t>
          </a:r>
          <a:endParaRPr lang="zh-CN" altLang="en-US" dirty="0"/>
        </a:p>
      </dgm:t>
    </dgm:pt>
    <dgm:pt modelId="{FEB00A76-1C60-41F7-9F37-4C2172A0C0EE}" type="parTrans" cxnId="{69F694C6-ECFD-488A-818C-AC4C021B295F}">
      <dgm:prSet/>
      <dgm:spPr/>
      <dgm:t>
        <a:bodyPr/>
        <a:lstStyle/>
        <a:p>
          <a:endParaRPr lang="zh-CN" altLang="en-US"/>
        </a:p>
      </dgm:t>
    </dgm:pt>
    <dgm:pt modelId="{E61B6BEA-E512-4B58-B3AF-6EC0860089DE}" type="sibTrans" cxnId="{69F694C6-ECFD-488A-818C-AC4C021B295F}">
      <dgm:prSet/>
      <dgm:spPr/>
      <dgm:t>
        <a:bodyPr/>
        <a:lstStyle/>
        <a:p>
          <a:endParaRPr lang="zh-CN" altLang="en-US"/>
        </a:p>
      </dgm:t>
    </dgm:pt>
    <dgm:pt modelId="{D801BE3F-5A22-4F65-9E13-5330D5B8B7A0}" type="pres">
      <dgm:prSet presAssocID="{EB72D0E6-3FFB-488F-8D9F-1D25363B387E}" presName="layout" presStyleCnt="0">
        <dgm:presLayoutVars>
          <dgm:chMax/>
          <dgm:chPref/>
          <dgm:dir/>
          <dgm:resizeHandles/>
        </dgm:presLayoutVars>
      </dgm:prSet>
      <dgm:spPr/>
      <dgm:t>
        <a:bodyPr/>
        <a:lstStyle/>
        <a:p>
          <a:endParaRPr lang="zh-CN" altLang="en-US"/>
        </a:p>
      </dgm:t>
    </dgm:pt>
    <dgm:pt modelId="{28C94801-1EEE-42B4-BA69-BDF5EA4EBFD0}" type="pres">
      <dgm:prSet presAssocID="{D1EB29BD-7B3C-466D-8F31-9BDF54D79B67}" presName="root" presStyleCnt="0">
        <dgm:presLayoutVars>
          <dgm:chMax/>
          <dgm:chPref/>
        </dgm:presLayoutVars>
      </dgm:prSet>
      <dgm:spPr/>
    </dgm:pt>
    <dgm:pt modelId="{182BB56C-1259-4606-9203-B0185E587ED1}" type="pres">
      <dgm:prSet presAssocID="{D1EB29BD-7B3C-466D-8F31-9BDF54D79B67}" presName="rootComposite" presStyleCnt="0">
        <dgm:presLayoutVars/>
      </dgm:prSet>
      <dgm:spPr/>
    </dgm:pt>
    <dgm:pt modelId="{F163DFA6-EF01-4324-9BD8-8AA18235AD1B}" type="pres">
      <dgm:prSet presAssocID="{D1EB29BD-7B3C-466D-8F31-9BDF54D79B67}" presName="ParentAccent" presStyleLbl="alignNode1" presStyleIdx="0" presStyleCnt="2"/>
      <dgm:spPr/>
    </dgm:pt>
    <dgm:pt modelId="{F1664C16-F16F-4E7D-9128-36229CD6D8E9}" type="pres">
      <dgm:prSet presAssocID="{D1EB29BD-7B3C-466D-8F31-9BDF54D79B67}" presName="ParentSmallAccent" presStyleLbl="fgAcc1" presStyleIdx="0" presStyleCnt="2"/>
      <dgm:spPr/>
    </dgm:pt>
    <dgm:pt modelId="{32FF69C0-31A9-4A3D-B83F-62463D14E6B5}" type="pres">
      <dgm:prSet presAssocID="{D1EB29BD-7B3C-466D-8F31-9BDF54D79B67}" presName="Parent" presStyleLbl="revTx" presStyleIdx="0" presStyleCnt="8">
        <dgm:presLayoutVars>
          <dgm:chMax/>
          <dgm:chPref val="4"/>
          <dgm:bulletEnabled val="1"/>
        </dgm:presLayoutVars>
      </dgm:prSet>
      <dgm:spPr/>
      <dgm:t>
        <a:bodyPr/>
        <a:lstStyle/>
        <a:p>
          <a:endParaRPr lang="zh-CN" altLang="en-US"/>
        </a:p>
      </dgm:t>
    </dgm:pt>
    <dgm:pt modelId="{DAF93BB4-2BE4-43DE-AB79-A244E296A19B}" type="pres">
      <dgm:prSet presAssocID="{D1EB29BD-7B3C-466D-8F31-9BDF54D79B67}" presName="childShape" presStyleCnt="0">
        <dgm:presLayoutVars>
          <dgm:chMax val="0"/>
          <dgm:chPref val="0"/>
        </dgm:presLayoutVars>
      </dgm:prSet>
      <dgm:spPr/>
    </dgm:pt>
    <dgm:pt modelId="{B717DF70-6263-4CDC-BF84-AB8EFC492D3D}" type="pres">
      <dgm:prSet presAssocID="{2916E205-CCEA-4CA1-9354-EAD1EBD33EFE}" presName="childComposite" presStyleCnt="0">
        <dgm:presLayoutVars>
          <dgm:chMax val="0"/>
          <dgm:chPref val="0"/>
        </dgm:presLayoutVars>
      </dgm:prSet>
      <dgm:spPr/>
    </dgm:pt>
    <dgm:pt modelId="{C9FBCCFF-A8EE-451D-B50A-62613AEE1B2D}" type="pres">
      <dgm:prSet presAssocID="{2916E205-CCEA-4CA1-9354-EAD1EBD33EFE}" presName="ChildAccent" presStyleLbl="solidFgAcc1" presStyleIdx="0" presStyleCnt="6"/>
      <dgm:spPr/>
    </dgm:pt>
    <dgm:pt modelId="{DE1F10F8-B96D-42A4-9157-AD14A89192BF}" type="pres">
      <dgm:prSet presAssocID="{2916E205-CCEA-4CA1-9354-EAD1EBD33EFE}" presName="Child" presStyleLbl="revTx" presStyleIdx="1" presStyleCnt="8">
        <dgm:presLayoutVars>
          <dgm:chMax val="0"/>
          <dgm:chPref val="0"/>
          <dgm:bulletEnabled val="1"/>
        </dgm:presLayoutVars>
      </dgm:prSet>
      <dgm:spPr/>
      <dgm:t>
        <a:bodyPr/>
        <a:lstStyle/>
        <a:p>
          <a:endParaRPr lang="zh-CN" altLang="en-US"/>
        </a:p>
      </dgm:t>
    </dgm:pt>
    <dgm:pt modelId="{E88274F6-425F-4D2D-A9F1-FA9C26F4CFA4}" type="pres">
      <dgm:prSet presAssocID="{D2D46C83-94A6-4004-AE04-683121F61681}" presName="childComposite" presStyleCnt="0">
        <dgm:presLayoutVars>
          <dgm:chMax val="0"/>
          <dgm:chPref val="0"/>
        </dgm:presLayoutVars>
      </dgm:prSet>
      <dgm:spPr/>
    </dgm:pt>
    <dgm:pt modelId="{384B3D20-09E8-4581-8D00-FB54F94A6280}" type="pres">
      <dgm:prSet presAssocID="{D2D46C83-94A6-4004-AE04-683121F61681}" presName="ChildAccent" presStyleLbl="solidFgAcc1" presStyleIdx="1" presStyleCnt="6"/>
      <dgm:spPr/>
    </dgm:pt>
    <dgm:pt modelId="{7AF753AD-CFFB-47B6-82BF-C7938B075074}" type="pres">
      <dgm:prSet presAssocID="{D2D46C83-94A6-4004-AE04-683121F61681}" presName="Child" presStyleLbl="revTx" presStyleIdx="2" presStyleCnt="8">
        <dgm:presLayoutVars>
          <dgm:chMax val="0"/>
          <dgm:chPref val="0"/>
          <dgm:bulletEnabled val="1"/>
        </dgm:presLayoutVars>
      </dgm:prSet>
      <dgm:spPr/>
      <dgm:t>
        <a:bodyPr/>
        <a:lstStyle/>
        <a:p>
          <a:endParaRPr lang="zh-CN" altLang="en-US"/>
        </a:p>
      </dgm:t>
    </dgm:pt>
    <dgm:pt modelId="{B58263AE-7676-49C2-8EA6-88E5D82834B0}" type="pres">
      <dgm:prSet presAssocID="{0CCA2B14-6124-4A7E-BCDA-B2C9BEC443D9}" presName="childComposite" presStyleCnt="0">
        <dgm:presLayoutVars>
          <dgm:chMax val="0"/>
          <dgm:chPref val="0"/>
        </dgm:presLayoutVars>
      </dgm:prSet>
      <dgm:spPr/>
    </dgm:pt>
    <dgm:pt modelId="{8AF29169-817D-49B4-BCFD-5587F304EFF0}" type="pres">
      <dgm:prSet presAssocID="{0CCA2B14-6124-4A7E-BCDA-B2C9BEC443D9}" presName="ChildAccent" presStyleLbl="solidFgAcc1" presStyleIdx="2" presStyleCnt="6"/>
      <dgm:spPr/>
    </dgm:pt>
    <dgm:pt modelId="{68A548FE-E734-4C4E-A75B-165D9FD7DC6C}" type="pres">
      <dgm:prSet presAssocID="{0CCA2B14-6124-4A7E-BCDA-B2C9BEC443D9}" presName="Child" presStyleLbl="revTx" presStyleIdx="3" presStyleCnt="8">
        <dgm:presLayoutVars>
          <dgm:chMax val="0"/>
          <dgm:chPref val="0"/>
          <dgm:bulletEnabled val="1"/>
        </dgm:presLayoutVars>
      </dgm:prSet>
      <dgm:spPr/>
      <dgm:t>
        <a:bodyPr/>
        <a:lstStyle/>
        <a:p>
          <a:endParaRPr lang="zh-CN" altLang="en-US"/>
        </a:p>
      </dgm:t>
    </dgm:pt>
    <dgm:pt modelId="{CF247944-B9AE-4169-8AC4-3987E80BD5D5}" type="pres">
      <dgm:prSet presAssocID="{8BB4DC16-0410-458B-9ECB-B58BA26BF497}" presName="root" presStyleCnt="0">
        <dgm:presLayoutVars>
          <dgm:chMax/>
          <dgm:chPref/>
        </dgm:presLayoutVars>
      </dgm:prSet>
      <dgm:spPr/>
    </dgm:pt>
    <dgm:pt modelId="{1DEE2D92-67FA-4998-B387-3ABFE17BE3C1}" type="pres">
      <dgm:prSet presAssocID="{8BB4DC16-0410-458B-9ECB-B58BA26BF497}" presName="rootComposite" presStyleCnt="0">
        <dgm:presLayoutVars/>
      </dgm:prSet>
      <dgm:spPr/>
    </dgm:pt>
    <dgm:pt modelId="{D05FE66E-BF1C-4EB5-9915-75496C17453A}" type="pres">
      <dgm:prSet presAssocID="{8BB4DC16-0410-458B-9ECB-B58BA26BF497}" presName="ParentAccent" presStyleLbl="alignNode1" presStyleIdx="1" presStyleCnt="2"/>
      <dgm:spPr/>
    </dgm:pt>
    <dgm:pt modelId="{66D1A96E-0BD3-497B-BB01-414DE5F7C890}" type="pres">
      <dgm:prSet presAssocID="{8BB4DC16-0410-458B-9ECB-B58BA26BF497}" presName="ParentSmallAccent" presStyleLbl="fgAcc1" presStyleIdx="1" presStyleCnt="2"/>
      <dgm:spPr/>
    </dgm:pt>
    <dgm:pt modelId="{54BC79B0-F5E1-4E92-BC41-66683A105144}" type="pres">
      <dgm:prSet presAssocID="{8BB4DC16-0410-458B-9ECB-B58BA26BF497}" presName="Parent" presStyleLbl="revTx" presStyleIdx="4" presStyleCnt="8">
        <dgm:presLayoutVars>
          <dgm:chMax/>
          <dgm:chPref val="4"/>
          <dgm:bulletEnabled val="1"/>
        </dgm:presLayoutVars>
      </dgm:prSet>
      <dgm:spPr/>
      <dgm:t>
        <a:bodyPr/>
        <a:lstStyle/>
        <a:p>
          <a:endParaRPr lang="zh-CN" altLang="en-US"/>
        </a:p>
      </dgm:t>
    </dgm:pt>
    <dgm:pt modelId="{F7B10E3B-6551-4F5A-A122-6926E162AE9C}" type="pres">
      <dgm:prSet presAssocID="{8BB4DC16-0410-458B-9ECB-B58BA26BF497}" presName="childShape" presStyleCnt="0">
        <dgm:presLayoutVars>
          <dgm:chMax val="0"/>
          <dgm:chPref val="0"/>
        </dgm:presLayoutVars>
      </dgm:prSet>
      <dgm:spPr/>
    </dgm:pt>
    <dgm:pt modelId="{AD73661C-AAEA-4D17-A407-D68EB4212499}" type="pres">
      <dgm:prSet presAssocID="{31E8DF2F-96AE-498E-A394-3AA325BEDBED}" presName="childComposite" presStyleCnt="0">
        <dgm:presLayoutVars>
          <dgm:chMax val="0"/>
          <dgm:chPref val="0"/>
        </dgm:presLayoutVars>
      </dgm:prSet>
      <dgm:spPr/>
    </dgm:pt>
    <dgm:pt modelId="{9D8B585F-5988-4B6A-BCB7-329DD2ACF4B4}" type="pres">
      <dgm:prSet presAssocID="{31E8DF2F-96AE-498E-A394-3AA325BEDBED}" presName="ChildAccent" presStyleLbl="solidFgAcc1" presStyleIdx="3" presStyleCnt="6"/>
      <dgm:spPr/>
    </dgm:pt>
    <dgm:pt modelId="{DD640EBB-9EC8-4EE7-AB41-3B43C3801885}" type="pres">
      <dgm:prSet presAssocID="{31E8DF2F-96AE-498E-A394-3AA325BEDBED}" presName="Child" presStyleLbl="revTx" presStyleIdx="5" presStyleCnt="8">
        <dgm:presLayoutVars>
          <dgm:chMax val="0"/>
          <dgm:chPref val="0"/>
          <dgm:bulletEnabled val="1"/>
        </dgm:presLayoutVars>
      </dgm:prSet>
      <dgm:spPr/>
      <dgm:t>
        <a:bodyPr/>
        <a:lstStyle/>
        <a:p>
          <a:endParaRPr lang="zh-CN" altLang="en-US"/>
        </a:p>
      </dgm:t>
    </dgm:pt>
    <dgm:pt modelId="{7814AD14-F61B-4A3D-9CD5-AB4DDE70FA96}" type="pres">
      <dgm:prSet presAssocID="{E4753E1F-CEC5-4C30-87EB-6267CF4AEE65}" presName="childComposite" presStyleCnt="0">
        <dgm:presLayoutVars>
          <dgm:chMax val="0"/>
          <dgm:chPref val="0"/>
        </dgm:presLayoutVars>
      </dgm:prSet>
      <dgm:spPr/>
    </dgm:pt>
    <dgm:pt modelId="{03968072-7B22-4256-ADC2-2B2F0EB1C19A}" type="pres">
      <dgm:prSet presAssocID="{E4753E1F-CEC5-4C30-87EB-6267CF4AEE65}" presName="ChildAccent" presStyleLbl="solidFgAcc1" presStyleIdx="4" presStyleCnt="6"/>
      <dgm:spPr/>
    </dgm:pt>
    <dgm:pt modelId="{AEBC0E5F-B888-447C-9D1D-DFF47813E030}" type="pres">
      <dgm:prSet presAssocID="{E4753E1F-CEC5-4C30-87EB-6267CF4AEE65}" presName="Child" presStyleLbl="revTx" presStyleIdx="6" presStyleCnt="8">
        <dgm:presLayoutVars>
          <dgm:chMax val="0"/>
          <dgm:chPref val="0"/>
          <dgm:bulletEnabled val="1"/>
        </dgm:presLayoutVars>
      </dgm:prSet>
      <dgm:spPr/>
      <dgm:t>
        <a:bodyPr/>
        <a:lstStyle/>
        <a:p>
          <a:endParaRPr lang="zh-CN" altLang="en-US"/>
        </a:p>
      </dgm:t>
    </dgm:pt>
    <dgm:pt modelId="{399BB20F-5312-4EC2-A554-A5C8FADFEA8C}" type="pres">
      <dgm:prSet presAssocID="{A7CBE465-E868-4E20-A5C5-E63E5E286340}" presName="childComposite" presStyleCnt="0">
        <dgm:presLayoutVars>
          <dgm:chMax val="0"/>
          <dgm:chPref val="0"/>
        </dgm:presLayoutVars>
      </dgm:prSet>
      <dgm:spPr/>
    </dgm:pt>
    <dgm:pt modelId="{49F1053F-61A8-43B6-97F4-AB0C42A348C5}" type="pres">
      <dgm:prSet presAssocID="{A7CBE465-E868-4E20-A5C5-E63E5E286340}" presName="ChildAccent" presStyleLbl="solidFgAcc1" presStyleIdx="5" presStyleCnt="6"/>
      <dgm:spPr/>
    </dgm:pt>
    <dgm:pt modelId="{15947637-AFA8-43A1-B17F-3455A8B4963F}" type="pres">
      <dgm:prSet presAssocID="{A7CBE465-E868-4E20-A5C5-E63E5E286340}" presName="Child" presStyleLbl="revTx" presStyleIdx="7" presStyleCnt="8">
        <dgm:presLayoutVars>
          <dgm:chMax val="0"/>
          <dgm:chPref val="0"/>
          <dgm:bulletEnabled val="1"/>
        </dgm:presLayoutVars>
      </dgm:prSet>
      <dgm:spPr/>
      <dgm:t>
        <a:bodyPr/>
        <a:lstStyle/>
        <a:p>
          <a:endParaRPr lang="zh-CN" altLang="en-US"/>
        </a:p>
      </dgm:t>
    </dgm:pt>
  </dgm:ptLst>
  <dgm:cxnLst>
    <dgm:cxn modelId="{F46EB95D-AB4F-441B-890E-EFD798444565}" srcId="{D1EB29BD-7B3C-466D-8F31-9BDF54D79B67}" destId="{0CCA2B14-6124-4A7E-BCDA-B2C9BEC443D9}" srcOrd="2" destOrd="0" parTransId="{871D49A5-BC37-44A8-B563-19953237FECE}" sibTransId="{C5A895ED-71E0-495D-990E-4283266DC3CB}"/>
    <dgm:cxn modelId="{D2BF91D6-BE47-4046-8899-DA254EEB25A6}" srcId="{EB72D0E6-3FFB-488F-8D9F-1D25363B387E}" destId="{D1EB29BD-7B3C-466D-8F31-9BDF54D79B67}" srcOrd="0" destOrd="0" parTransId="{35479491-7F91-42FA-80C2-E36ED42B9E85}" sibTransId="{E0C42C31-4DD7-49DE-BE99-3F64DC977157}"/>
    <dgm:cxn modelId="{F6110CB0-2B86-496E-B528-25A0FCE70E40}" type="presOf" srcId="{2916E205-CCEA-4CA1-9354-EAD1EBD33EFE}" destId="{DE1F10F8-B96D-42A4-9157-AD14A89192BF}" srcOrd="0" destOrd="0" presId="urn:microsoft.com/office/officeart/2008/layout/SquareAccentList"/>
    <dgm:cxn modelId="{8FB30F5D-1478-4612-8618-085DBCF4D678}" srcId="{D1EB29BD-7B3C-466D-8F31-9BDF54D79B67}" destId="{2916E205-CCEA-4CA1-9354-EAD1EBD33EFE}" srcOrd="0" destOrd="0" parTransId="{AFEF6B0A-89CB-4521-8253-252A99067836}" sibTransId="{FFAC200E-9CE4-41D5-AB7F-DAE37E979F89}"/>
    <dgm:cxn modelId="{31276BF9-61A4-4C07-A207-6BE383F40C66}" srcId="{D1EB29BD-7B3C-466D-8F31-9BDF54D79B67}" destId="{D2D46C83-94A6-4004-AE04-683121F61681}" srcOrd="1" destOrd="0" parTransId="{C832757B-B0E0-452F-B407-6B6DE21398F8}" sibTransId="{2BA58861-6CCF-4DCC-907C-3952EDE7DA10}"/>
    <dgm:cxn modelId="{986D8F9E-5387-4119-90D6-FA73DD993B0D}" srcId="{8BB4DC16-0410-458B-9ECB-B58BA26BF497}" destId="{31E8DF2F-96AE-498E-A394-3AA325BEDBED}" srcOrd="0" destOrd="0" parTransId="{7CAAE186-8D9F-45D2-9F00-80016B803703}" sibTransId="{DB931A10-4028-41F1-A2CE-0788C4CF4C02}"/>
    <dgm:cxn modelId="{35DF7316-8F6E-41C6-AA7D-FF24785919F3}" type="presOf" srcId="{0CCA2B14-6124-4A7E-BCDA-B2C9BEC443D9}" destId="{68A548FE-E734-4C4E-A75B-165D9FD7DC6C}" srcOrd="0" destOrd="0" presId="urn:microsoft.com/office/officeart/2008/layout/SquareAccentList"/>
    <dgm:cxn modelId="{6B7C71DA-236E-4B80-94F7-E5C35A539CD4}" type="presOf" srcId="{31E8DF2F-96AE-498E-A394-3AA325BEDBED}" destId="{DD640EBB-9EC8-4EE7-AB41-3B43C3801885}" srcOrd="0" destOrd="0" presId="urn:microsoft.com/office/officeart/2008/layout/SquareAccentList"/>
    <dgm:cxn modelId="{69F694C6-ECFD-488A-818C-AC4C021B295F}" srcId="{8BB4DC16-0410-458B-9ECB-B58BA26BF497}" destId="{A7CBE465-E868-4E20-A5C5-E63E5E286340}" srcOrd="2" destOrd="0" parTransId="{FEB00A76-1C60-41F7-9F37-4C2172A0C0EE}" sibTransId="{E61B6BEA-E512-4B58-B3AF-6EC0860089DE}"/>
    <dgm:cxn modelId="{F6FF237A-6611-4F8F-8C6B-F846B84B5269}" type="presOf" srcId="{A7CBE465-E868-4E20-A5C5-E63E5E286340}" destId="{15947637-AFA8-43A1-B17F-3455A8B4963F}" srcOrd="0" destOrd="0" presId="urn:microsoft.com/office/officeart/2008/layout/SquareAccentList"/>
    <dgm:cxn modelId="{6D700860-50BD-4CDA-95EB-B04823E2D850}" type="presOf" srcId="{E4753E1F-CEC5-4C30-87EB-6267CF4AEE65}" destId="{AEBC0E5F-B888-447C-9D1D-DFF47813E030}" srcOrd="0" destOrd="0" presId="urn:microsoft.com/office/officeart/2008/layout/SquareAccentList"/>
    <dgm:cxn modelId="{98BFD3A0-5AD3-4552-B4A3-F7D17373F0E2}" type="presOf" srcId="{D2D46C83-94A6-4004-AE04-683121F61681}" destId="{7AF753AD-CFFB-47B6-82BF-C7938B075074}" srcOrd="0" destOrd="0" presId="urn:microsoft.com/office/officeart/2008/layout/SquareAccentList"/>
    <dgm:cxn modelId="{7467AE38-D4B9-4837-BA46-79CCA9888603}" type="presOf" srcId="{8BB4DC16-0410-458B-9ECB-B58BA26BF497}" destId="{54BC79B0-F5E1-4E92-BC41-66683A105144}" srcOrd="0" destOrd="0" presId="urn:microsoft.com/office/officeart/2008/layout/SquareAccentList"/>
    <dgm:cxn modelId="{B6175B05-7C58-4D16-B407-82BA95843EB2}" type="presOf" srcId="{D1EB29BD-7B3C-466D-8F31-9BDF54D79B67}" destId="{32FF69C0-31A9-4A3D-B83F-62463D14E6B5}" srcOrd="0" destOrd="0" presId="urn:microsoft.com/office/officeart/2008/layout/SquareAccentList"/>
    <dgm:cxn modelId="{9B9172B3-FBFB-4C60-A78B-27128E3C11EC}" type="presOf" srcId="{EB72D0E6-3FFB-488F-8D9F-1D25363B387E}" destId="{D801BE3F-5A22-4F65-9E13-5330D5B8B7A0}" srcOrd="0" destOrd="0" presId="urn:microsoft.com/office/officeart/2008/layout/SquareAccentList"/>
    <dgm:cxn modelId="{96431786-DDA8-4A57-903E-9F8803E3AC1C}" srcId="{8BB4DC16-0410-458B-9ECB-B58BA26BF497}" destId="{E4753E1F-CEC5-4C30-87EB-6267CF4AEE65}" srcOrd="1" destOrd="0" parTransId="{2B9FA205-DC0C-4340-8081-4FFA600A3AF3}" sibTransId="{FD400514-94B7-464B-AC2A-9050E2EB3C33}"/>
    <dgm:cxn modelId="{9D8A080C-B050-40C6-A1FE-D3B6BE40B624}" srcId="{EB72D0E6-3FFB-488F-8D9F-1D25363B387E}" destId="{8BB4DC16-0410-458B-9ECB-B58BA26BF497}" srcOrd="1" destOrd="0" parTransId="{6050E56E-FF2C-4426-B137-F267C7317644}" sibTransId="{E1686CAC-912C-4F7D-9909-EC30AF879031}"/>
    <dgm:cxn modelId="{3BE619AE-4795-4878-8B60-5E231AC97829}" type="presParOf" srcId="{D801BE3F-5A22-4F65-9E13-5330D5B8B7A0}" destId="{28C94801-1EEE-42B4-BA69-BDF5EA4EBFD0}" srcOrd="0" destOrd="0" presId="urn:microsoft.com/office/officeart/2008/layout/SquareAccentList"/>
    <dgm:cxn modelId="{91FD6378-0BC2-4107-BA04-AB73E8610DE8}" type="presParOf" srcId="{28C94801-1EEE-42B4-BA69-BDF5EA4EBFD0}" destId="{182BB56C-1259-4606-9203-B0185E587ED1}" srcOrd="0" destOrd="0" presId="urn:microsoft.com/office/officeart/2008/layout/SquareAccentList"/>
    <dgm:cxn modelId="{C2F63C87-743F-46E4-AF72-F2D92CBCD4E2}" type="presParOf" srcId="{182BB56C-1259-4606-9203-B0185E587ED1}" destId="{F163DFA6-EF01-4324-9BD8-8AA18235AD1B}" srcOrd="0" destOrd="0" presId="urn:microsoft.com/office/officeart/2008/layout/SquareAccentList"/>
    <dgm:cxn modelId="{6D406798-15B4-4D23-8A6F-FC7B32228703}" type="presParOf" srcId="{182BB56C-1259-4606-9203-B0185E587ED1}" destId="{F1664C16-F16F-4E7D-9128-36229CD6D8E9}" srcOrd="1" destOrd="0" presId="urn:microsoft.com/office/officeart/2008/layout/SquareAccentList"/>
    <dgm:cxn modelId="{605BBE5B-861F-4000-9240-3A9DAB8927FE}" type="presParOf" srcId="{182BB56C-1259-4606-9203-B0185E587ED1}" destId="{32FF69C0-31A9-4A3D-B83F-62463D14E6B5}" srcOrd="2" destOrd="0" presId="urn:microsoft.com/office/officeart/2008/layout/SquareAccentList"/>
    <dgm:cxn modelId="{BD284482-8FD9-4BD7-B273-D636DF9E4D22}" type="presParOf" srcId="{28C94801-1EEE-42B4-BA69-BDF5EA4EBFD0}" destId="{DAF93BB4-2BE4-43DE-AB79-A244E296A19B}" srcOrd="1" destOrd="0" presId="urn:microsoft.com/office/officeart/2008/layout/SquareAccentList"/>
    <dgm:cxn modelId="{D8610EBE-7A6C-4A66-BCC7-ED0F57A7ADBF}" type="presParOf" srcId="{DAF93BB4-2BE4-43DE-AB79-A244E296A19B}" destId="{B717DF70-6263-4CDC-BF84-AB8EFC492D3D}" srcOrd="0" destOrd="0" presId="urn:microsoft.com/office/officeart/2008/layout/SquareAccentList"/>
    <dgm:cxn modelId="{92377798-E016-45C6-BC17-B7DB2D604E5B}" type="presParOf" srcId="{B717DF70-6263-4CDC-BF84-AB8EFC492D3D}" destId="{C9FBCCFF-A8EE-451D-B50A-62613AEE1B2D}" srcOrd="0" destOrd="0" presId="urn:microsoft.com/office/officeart/2008/layout/SquareAccentList"/>
    <dgm:cxn modelId="{66AA755D-0655-47E2-AD62-6D90B4F51782}" type="presParOf" srcId="{B717DF70-6263-4CDC-BF84-AB8EFC492D3D}" destId="{DE1F10F8-B96D-42A4-9157-AD14A89192BF}" srcOrd="1" destOrd="0" presId="urn:microsoft.com/office/officeart/2008/layout/SquareAccentList"/>
    <dgm:cxn modelId="{5EFE10FD-F24E-450F-ABA5-F4D73AC6888B}" type="presParOf" srcId="{DAF93BB4-2BE4-43DE-AB79-A244E296A19B}" destId="{E88274F6-425F-4D2D-A9F1-FA9C26F4CFA4}" srcOrd="1" destOrd="0" presId="urn:microsoft.com/office/officeart/2008/layout/SquareAccentList"/>
    <dgm:cxn modelId="{65EEBCD0-E63E-426B-8615-C55DB4F221DD}" type="presParOf" srcId="{E88274F6-425F-4D2D-A9F1-FA9C26F4CFA4}" destId="{384B3D20-09E8-4581-8D00-FB54F94A6280}" srcOrd="0" destOrd="0" presId="urn:microsoft.com/office/officeart/2008/layout/SquareAccentList"/>
    <dgm:cxn modelId="{C62D6C87-0411-4F81-A5B4-14ECA7AF15FD}" type="presParOf" srcId="{E88274F6-425F-4D2D-A9F1-FA9C26F4CFA4}" destId="{7AF753AD-CFFB-47B6-82BF-C7938B075074}" srcOrd="1" destOrd="0" presId="urn:microsoft.com/office/officeart/2008/layout/SquareAccentList"/>
    <dgm:cxn modelId="{F9F26207-6090-4052-9BBB-7802FCBC910E}" type="presParOf" srcId="{DAF93BB4-2BE4-43DE-AB79-A244E296A19B}" destId="{B58263AE-7676-49C2-8EA6-88E5D82834B0}" srcOrd="2" destOrd="0" presId="urn:microsoft.com/office/officeart/2008/layout/SquareAccentList"/>
    <dgm:cxn modelId="{73F32BE6-E134-4468-8143-5346CD93C16B}" type="presParOf" srcId="{B58263AE-7676-49C2-8EA6-88E5D82834B0}" destId="{8AF29169-817D-49B4-BCFD-5587F304EFF0}" srcOrd="0" destOrd="0" presId="urn:microsoft.com/office/officeart/2008/layout/SquareAccentList"/>
    <dgm:cxn modelId="{2E00B480-7AD3-48FF-9166-F670B776606D}" type="presParOf" srcId="{B58263AE-7676-49C2-8EA6-88E5D82834B0}" destId="{68A548FE-E734-4C4E-A75B-165D9FD7DC6C}" srcOrd="1" destOrd="0" presId="urn:microsoft.com/office/officeart/2008/layout/SquareAccentList"/>
    <dgm:cxn modelId="{F997B2C6-75A4-47A9-9B50-043257E5BBE1}" type="presParOf" srcId="{D801BE3F-5A22-4F65-9E13-5330D5B8B7A0}" destId="{CF247944-B9AE-4169-8AC4-3987E80BD5D5}" srcOrd="1" destOrd="0" presId="urn:microsoft.com/office/officeart/2008/layout/SquareAccentList"/>
    <dgm:cxn modelId="{7E757BC9-2853-4F45-B1F1-4B7BB373F8A2}" type="presParOf" srcId="{CF247944-B9AE-4169-8AC4-3987E80BD5D5}" destId="{1DEE2D92-67FA-4998-B387-3ABFE17BE3C1}" srcOrd="0" destOrd="0" presId="urn:microsoft.com/office/officeart/2008/layout/SquareAccentList"/>
    <dgm:cxn modelId="{1C8CA143-22F0-4A75-A87A-84B0C936366B}" type="presParOf" srcId="{1DEE2D92-67FA-4998-B387-3ABFE17BE3C1}" destId="{D05FE66E-BF1C-4EB5-9915-75496C17453A}" srcOrd="0" destOrd="0" presId="urn:microsoft.com/office/officeart/2008/layout/SquareAccentList"/>
    <dgm:cxn modelId="{F8F3B4C4-6CFD-4E44-9DDE-7906D0517CAD}" type="presParOf" srcId="{1DEE2D92-67FA-4998-B387-3ABFE17BE3C1}" destId="{66D1A96E-0BD3-497B-BB01-414DE5F7C890}" srcOrd="1" destOrd="0" presId="urn:microsoft.com/office/officeart/2008/layout/SquareAccentList"/>
    <dgm:cxn modelId="{BE95F059-CC75-4AB0-9A90-5B34D8F81B15}" type="presParOf" srcId="{1DEE2D92-67FA-4998-B387-3ABFE17BE3C1}" destId="{54BC79B0-F5E1-4E92-BC41-66683A105144}" srcOrd="2" destOrd="0" presId="urn:microsoft.com/office/officeart/2008/layout/SquareAccentList"/>
    <dgm:cxn modelId="{39066757-B295-4A11-B229-080D3619895F}" type="presParOf" srcId="{CF247944-B9AE-4169-8AC4-3987E80BD5D5}" destId="{F7B10E3B-6551-4F5A-A122-6926E162AE9C}" srcOrd="1" destOrd="0" presId="urn:microsoft.com/office/officeart/2008/layout/SquareAccentList"/>
    <dgm:cxn modelId="{FF5670BE-8544-4F4E-A2AE-7446006D9559}" type="presParOf" srcId="{F7B10E3B-6551-4F5A-A122-6926E162AE9C}" destId="{AD73661C-AAEA-4D17-A407-D68EB4212499}" srcOrd="0" destOrd="0" presId="urn:microsoft.com/office/officeart/2008/layout/SquareAccentList"/>
    <dgm:cxn modelId="{36C50E3B-F68B-4CE3-B376-B793CF3C9A61}" type="presParOf" srcId="{AD73661C-AAEA-4D17-A407-D68EB4212499}" destId="{9D8B585F-5988-4B6A-BCB7-329DD2ACF4B4}" srcOrd="0" destOrd="0" presId="urn:microsoft.com/office/officeart/2008/layout/SquareAccentList"/>
    <dgm:cxn modelId="{FEE8B556-05CC-446A-9503-69023089FF05}" type="presParOf" srcId="{AD73661C-AAEA-4D17-A407-D68EB4212499}" destId="{DD640EBB-9EC8-4EE7-AB41-3B43C3801885}" srcOrd="1" destOrd="0" presId="urn:microsoft.com/office/officeart/2008/layout/SquareAccentList"/>
    <dgm:cxn modelId="{259760E0-49DA-4037-93CD-C3FA0A83F1D6}" type="presParOf" srcId="{F7B10E3B-6551-4F5A-A122-6926E162AE9C}" destId="{7814AD14-F61B-4A3D-9CD5-AB4DDE70FA96}" srcOrd="1" destOrd="0" presId="urn:microsoft.com/office/officeart/2008/layout/SquareAccentList"/>
    <dgm:cxn modelId="{0F86415D-3A65-493D-9130-A9BF71FF499B}" type="presParOf" srcId="{7814AD14-F61B-4A3D-9CD5-AB4DDE70FA96}" destId="{03968072-7B22-4256-ADC2-2B2F0EB1C19A}" srcOrd="0" destOrd="0" presId="urn:microsoft.com/office/officeart/2008/layout/SquareAccentList"/>
    <dgm:cxn modelId="{39EF39A3-A8B9-4AEA-B624-91CB057DDC12}" type="presParOf" srcId="{7814AD14-F61B-4A3D-9CD5-AB4DDE70FA96}" destId="{AEBC0E5F-B888-447C-9D1D-DFF47813E030}" srcOrd="1" destOrd="0" presId="urn:microsoft.com/office/officeart/2008/layout/SquareAccentList"/>
    <dgm:cxn modelId="{1000246B-D1E1-4210-A5D7-F28BBDA9EB07}" type="presParOf" srcId="{F7B10E3B-6551-4F5A-A122-6926E162AE9C}" destId="{399BB20F-5312-4EC2-A554-A5C8FADFEA8C}" srcOrd="2" destOrd="0" presId="urn:microsoft.com/office/officeart/2008/layout/SquareAccentList"/>
    <dgm:cxn modelId="{58EC5430-2696-4B0C-A0B1-77ABA9FC488C}" type="presParOf" srcId="{399BB20F-5312-4EC2-A554-A5C8FADFEA8C}" destId="{49F1053F-61A8-43B6-97F4-AB0C42A348C5}" srcOrd="0" destOrd="0" presId="urn:microsoft.com/office/officeart/2008/layout/SquareAccentList"/>
    <dgm:cxn modelId="{074E8776-A9F2-49F2-90B7-3D291517BB83}" type="presParOf" srcId="{399BB20F-5312-4EC2-A554-A5C8FADFEA8C}" destId="{15947637-AFA8-43A1-B17F-3455A8B4963F}"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3DFA6-EF01-4324-9BD8-8AA18235AD1B}">
      <dsp:nvSpPr>
        <dsp:cNvPr id="0" name=""/>
        <dsp:cNvSpPr/>
      </dsp:nvSpPr>
      <dsp:spPr>
        <a:xfrm>
          <a:off x="259985" y="1030493"/>
          <a:ext cx="4875916" cy="57363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664C16-F16F-4E7D-9128-36229CD6D8E9}">
      <dsp:nvSpPr>
        <dsp:cNvPr id="0" name=""/>
        <dsp:cNvSpPr/>
      </dsp:nvSpPr>
      <dsp:spPr>
        <a:xfrm>
          <a:off x="259985" y="1245928"/>
          <a:ext cx="358202" cy="35820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FF69C0-31A9-4A3D-B83F-62463D14E6B5}">
      <dsp:nvSpPr>
        <dsp:cNvPr id="0" name=""/>
        <dsp:cNvSpPr/>
      </dsp:nvSpPr>
      <dsp:spPr>
        <a:xfrm>
          <a:off x="259985" y="0"/>
          <a:ext cx="4875916" cy="1030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58420" rIns="87630" bIns="58420" numCol="1" spcCol="1270" anchor="ctr" anchorCtr="0">
          <a:noAutofit/>
        </a:bodyPr>
        <a:lstStyle/>
        <a:p>
          <a:pPr lvl="0" algn="l" defTabSz="2044700">
            <a:lnSpc>
              <a:spcPct val="90000"/>
            </a:lnSpc>
            <a:spcBef>
              <a:spcPct val="0"/>
            </a:spcBef>
            <a:spcAft>
              <a:spcPct val="35000"/>
            </a:spcAft>
          </a:pPr>
          <a:r>
            <a:rPr lang="zh-CN" altLang="en-US" sz="4600" kern="1200" dirty="0" smtClean="0"/>
            <a:t>古人朴素的世界观</a:t>
          </a:r>
          <a:endParaRPr lang="zh-CN" altLang="en-US" sz="4600" kern="1200" dirty="0"/>
        </a:p>
      </dsp:txBody>
      <dsp:txXfrm>
        <a:off x="259985" y="0"/>
        <a:ext cx="4875916" cy="1030493"/>
      </dsp:txXfrm>
    </dsp:sp>
    <dsp:sp modelId="{C9FBCCFF-A8EE-451D-B50A-62613AEE1B2D}">
      <dsp:nvSpPr>
        <dsp:cNvPr id="0" name=""/>
        <dsp:cNvSpPr/>
      </dsp:nvSpPr>
      <dsp:spPr>
        <a:xfrm>
          <a:off x="259985" y="208088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1F10F8-B96D-42A4-9157-AD14A89192BF}">
      <dsp:nvSpPr>
        <dsp:cNvPr id="0" name=""/>
        <dsp:cNvSpPr/>
      </dsp:nvSpPr>
      <dsp:spPr>
        <a:xfrm>
          <a:off x="601299" y="184250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中国古代宇宙观</a:t>
          </a:r>
          <a:endParaRPr lang="zh-CN" altLang="en-US" sz="2800" kern="1200" dirty="0"/>
        </a:p>
      </dsp:txBody>
      <dsp:txXfrm>
        <a:off x="601299" y="1842509"/>
        <a:ext cx="4534602" cy="834950"/>
      </dsp:txXfrm>
    </dsp:sp>
    <dsp:sp modelId="{384B3D20-09E8-4581-8D00-FB54F94A6280}">
      <dsp:nvSpPr>
        <dsp:cNvPr id="0" name=""/>
        <dsp:cNvSpPr/>
      </dsp:nvSpPr>
      <dsp:spPr>
        <a:xfrm>
          <a:off x="259985" y="291583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F753AD-CFFB-47B6-82BF-C7938B075074}">
      <dsp:nvSpPr>
        <dsp:cNvPr id="0" name=""/>
        <dsp:cNvSpPr/>
      </dsp:nvSpPr>
      <dsp:spPr>
        <a:xfrm>
          <a:off x="601299" y="267745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古希腊人的宇宙观</a:t>
          </a:r>
          <a:endParaRPr lang="zh-CN" altLang="en-US" sz="2800" kern="1200" dirty="0"/>
        </a:p>
      </dsp:txBody>
      <dsp:txXfrm>
        <a:off x="601299" y="2677459"/>
        <a:ext cx="4534602" cy="834950"/>
      </dsp:txXfrm>
    </dsp:sp>
    <dsp:sp modelId="{8AF29169-817D-49B4-BCFD-5587F304EFF0}">
      <dsp:nvSpPr>
        <dsp:cNvPr id="0" name=""/>
        <dsp:cNvSpPr/>
      </dsp:nvSpPr>
      <dsp:spPr>
        <a:xfrm>
          <a:off x="259985" y="375078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A548FE-E734-4C4E-A75B-165D9FD7DC6C}">
      <dsp:nvSpPr>
        <dsp:cNvPr id="0" name=""/>
        <dsp:cNvSpPr/>
      </dsp:nvSpPr>
      <dsp:spPr>
        <a:xfrm>
          <a:off x="601299" y="351240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地心说</a:t>
          </a:r>
          <a:endParaRPr lang="zh-CN" altLang="en-US" sz="2800" kern="1200" dirty="0"/>
        </a:p>
      </dsp:txBody>
      <dsp:txXfrm>
        <a:off x="601299" y="3512409"/>
        <a:ext cx="4534602" cy="834950"/>
      </dsp:txXfrm>
    </dsp:sp>
    <dsp:sp modelId="{D05FE66E-BF1C-4EB5-9915-75496C17453A}">
      <dsp:nvSpPr>
        <dsp:cNvPr id="0" name=""/>
        <dsp:cNvSpPr/>
      </dsp:nvSpPr>
      <dsp:spPr>
        <a:xfrm>
          <a:off x="5379697" y="1030493"/>
          <a:ext cx="4875916" cy="57363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D1A96E-0BD3-497B-BB01-414DE5F7C890}">
      <dsp:nvSpPr>
        <dsp:cNvPr id="0" name=""/>
        <dsp:cNvSpPr/>
      </dsp:nvSpPr>
      <dsp:spPr>
        <a:xfrm>
          <a:off x="5379697" y="1245928"/>
          <a:ext cx="358202" cy="35820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BC79B0-F5E1-4E92-BC41-66683A105144}">
      <dsp:nvSpPr>
        <dsp:cNvPr id="0" name=""/>
        <dsp:cNvSpPr/>
      </dsp:nvSpPr>
      <dsp:spPr>
        <a:xfrm>
          <a:off x="5379697" y="0"/>
          <a:ext cx="4875916" cy="1030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58420" rIns="87630" bIns="58420" numCol="1" spcCol="1270" anchor="ctr" anchorCtr="0">
          <a:noAutofit/>
        </a:bodyPr>
        <a:lstStyle/>
        <a:p>
          <a:pPr lvl="0" algn="l" defTabSz="2044700">
            <a:lnSpc>
              <a:spcPct val="90000"/>
            </a:lnSpc>
            <a:spcBef>
              <a:spcPct val="0"/>
            </a:spcBef>
            <a:spcAft>
              <a:spcPct val="35000"/>
            </a:spcAft>
          </a:pPr>
          <a:r>
            <a:rPr lang="zh-CN" altLang="en-US" sz="4600" kern="1200" dirty="0" smtClean="0"/>
            <a:t>近现代世界观</a:t>
          </a:r>
          <a:endParaRPr lang="zh-CN" altLang="en-US" sz="4600" kern="1200" dirty="0"/>
        </a:p>
      </dsp:txBody>
      <dsp:txXfrm>
        <a:off x="5379697" y="0"/>
        <a:ext cx="4875916" cy="1030493"/>
      </dsp:txXfrm>
    </dsp:sp>
    <dsp:sp modelId="{9D8B585F-5988-4B6A-BCB7-329DD2ACF4B4}">
      <dsp:nvSpPr>
        <dsp:cNvPr id="0" name=""/>
        <dsp:cNvSpPr/>
      </dsp:nvSpPr>
      <dsp:spPr>
        <a:xfrm>
          <a:off x="5379697" y="208088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640EBB-9EC8-4EE7-AB41-3B43C3801885}">
      <dsp:nvSpPr>
        <dsp:cNvPr id="0" name=""/>
        <dsp:cNvSpPr/>
      </dsp:nvSpPr>
      <dsp:spPr>
        <a:xfrm>
          <a:off x="5721012" y="184250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日心说</a:t>
          </a:r>
          <a:endParaRPr lang="zh-CN" altLang="en-US" sz="2800" kern="1200" dirty="0"/>
        </a:p>
      </dsp:txBody>
      <dsp:txXfrm>
        <a:off x="5721012" y="1842509"/>
        <a:ext cx="4534602" cy="834950"/>
      </dsp:txXfrm>
    </dsp:sp>
    <dsp:sp modelId="{03968072-7B22-4256-ADC2-2B2F0EB1C19A}">
      <dsp:nvSpPr>
        <dsp:cNvPr id="0" name=""/>
        <dsp:cNvSpPr/>
      </dsp:nvSpPr>
      <dsp:spPr>
        <a:xfrm>
          <a:off x="5379697" y="291583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BC0E5F-B888-447C-9D1D-DFF47813E030}">
      <dsp:nvSpPr>
        <dsp:cNvPr id="0" name=""/>
        <dsp:cNvSpPr/>
      </dsp:nvSpPr>
      <dsp:spPr>
        <a:xfrm>
          <a:off x="5721012" y="267745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银河系与河外星系</a:t>
          </a:r>
          <a:endParaRPr lang="zh-CN" altLang="en-US" sz="2800" kern="1200" dirty="0"/>
        </a:p>
      </dsp:txBody>
      <dsp:txXfrm>
        <a:off x="5721012" y="2677459"/>
        <a:ext cx="4534602" cy="834950"/>
      </dsp:txXfrm>
    </dsp:sp>
    <dsp:sp modelId="{49F1053F-61A8-43B6-97F4-AB0C42A348C5}">
      <dsp:nvSpPr>
        <dsp:cNvPr id="0" name=""/>
        <dsp:cNvSpPr/>
      </dsp:nvSpPr>
      <dsp:spPr>
        <a:xfrm>
          <a:off x="5379697" y="3750787"/>
          <a:ext cx="358193" cy="358193"/>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947637-AFA8-43A1-B17F-3455A8B4963F}">
      <dsp:nvSpPr>
        <dsp:cNvPr id="0" name=""/>
        <dsp:cNvSpPr/>
      </dsp:nvSpPr>
      <dsp:spPr>
        <a:xfrm>
          <a:off x="5721012" y="3512409"/>
          <a:ext cx="4534602" cy="834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lang="zh-CN" altLang="en-US" sz="2800" kern="1200" dirty="0" smtClean="0"/>
            <a:t>宇宙的演化</a:t>
          </a:r>
          <a:endParaRPr lang="zh-CN" altLang="en-US" sz="2800" kern="1200" dirty="0"/>
        </a:p>
      </dsp:txBody>
      <dsp:txXfrm>
        <a:off x="5721012" y="3512409"/>
        <a:ext cx="4534602" cy="834950"/>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1634450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60910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146450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2280265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2727208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07654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768488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70526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167541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85202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113899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F812C3-54E5-4F95-85DF-36B745D5B290}" type="datetimeFigureOut">
              <a:rPr lang="zh-CN" altLang="en-US" smtClean="0"/>
              <a:t>2020/5/30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2257BD-C29D-4D19-BEA4-873728039417}" type="slidenum">
              <a:rPr lang="zh-CN" altLang="en-US" smtClean="0"/>
              <a:t>‹#›</a:t>
            </a:fld>
            <a:endParaRPr lang="zh-CN" altLang="en-US"/>
          </a:p>
        </p:txBody>
      </p:sp>
    </p:spTree>
    <p:extLst>
      <p:ext uri="{BB962C8B-B14F-4D97-AF65-F5344CB8AC3E}">
        <p14:creationId xmlns:p14="http://schemas.microsoft.com/office/powerpoint/2010/main" val="3066615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arge_Ud3z_41683i206096"/>
          <p:cNvPicPr>
            <a:picLocks noChangeAspect="1" noChangeArrowheads="1"/>
          </p:cNvPicPr>
          <p:nvPr/>
        </p:nvPicPr>
        <p:blipFill rotWithShape="1">
          <a:blip r:embed="rId2">
            <a:extLst>
              <a:ext uri="{28A0092B-C50C-407E-A947-70E740481C1C}">
                <a14:useLocalDpi xmlns:a14="http://schemas.microsoft.com/office/drawing/2010/main" val="0"/>
              </a:ext>
            </a:extLst>
          </a:blip>
          <a:srcRect l="1" t="-577" r="-242" b="4880"/>
          <a:stretch/>
        </p:blipFill>
        <p:spPr bwMode="auto">
          <a:xfrm>
            <a:off x="0" y="-607100"/>
            <a:ext cx="12261955" cy="74651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1611442" y="164944"/>
            <a:ext cx="9144000" cy="2387600"/>
          </a:xfrm>
        </p:spPr>
        <p:txBody>
          <a:bodyPr/>
          <a:lstStyle/>
          <a:p>
            <a:r>
              <a:rPr lang="zh-CN" altLang="en-US" dirty="0" smtClean="0">
                <a:solidFill>
                  <a:schemeClr val="accent5"/>
                </a:solidFill>
              </a:rPr>
              <a:t>人类宇宙观的演变</a:t>
            </a:r>
            <a:endParaRPr lang="zh-CN" altLang="en-US" dirty="0">
              <a:solidFill>
                <a:schemeClr val="accent5"/>
              </a:solidFill>
            </a:endParaRPr>
          </a:p>
        </p:txBody>
      </p:sp>
      <p:sp>
        <p:nvSpPr>
          <p:cNvPr id="3" name="副标题 2"/>
          <p:cNvSpPr>
            <a:spLocks noGrp="1"/>
          </p:cNvSpPr>
          <p:nvPr>
            <p:ph type="subTitle" idx="1"/>
          </p:nvPr>
        </p:nvSpPr>
        <p:spPr>
          <a:xfrm>
            <a:off x="7475456" y="2620652"/>
            <a:ext cx="3279986" cy="1348033"/>
          </a:xfrm>
        </p:spPr>
        <p:txBody>
          <a:bodyPr>
            <a:normAutofit/>
          </a:bodyPr>
          <a:lstStyle/>
          <a:p>
            <a:r>
              <a:rPr lang="zh-CN" altLang="en-US" sz="3200" dirty="0" smtClean="0">
                <a:solidFill>
                  <a:schemeClr val="accent5"/>
                </a:solidFill>
              </a:rPr>
              <a:t>吉大天协 韩宏旭</a:t>
            </a:r>
            <a:endParaRPr lang="zh-CN" altLang="en-US" sz="3200" dirty="0">
              <a:solidFill>
                <a:schemeClr val="accent5"/>
              </a:solidFill>
            </a:endParaRPr>
          </a:p>
        </p:txBody>
      </p:sp>
    </p:spTree>
    <p:extLst>
      <p:ext uri="{BB962C8B-B14F-4D97-AF65-F5344CB8AC3E}">
        <p14:creationId xmlns:p14="http://schemas.microsoft.com/office/powerpoint/2010/main" val="2617308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内容占位符 3"/>
          <p:cNvGraphicFramePr>
            <a:graphicFrameLocks noGrp="1"/>
          </p:cNvGraphicFramePr>
          <p:nvPr>
            <p:ph idx="1"/>
            <p:extLst>
              <p:ext uri="{D42A27DB-BD31-4B8C-83A1-F6EECF244321}">
                <p14:modId xmlns:p14="http://schemas.microsoft.com/office/powerpoint/2010/main" val="11755376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13869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23672"/>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01  </a:t>
            </a:r>
            <a:r>
              <a:rPr lang="zh-CN" altLang="en-US" sz="5400" dirty="0" smtClean="0"/>
              <a:t>中国古代的宇宙观</a:t>
            </a:r>
            <a:endParaRPr lang="zh-CN" altLang="en-US" sz="5400" dirty="0"/>
          </a:p>
        </p:txBody>
      </p:sp>
    </p:spTree>
    <p:extLst>
      <p:ext uri="{BB962C8B-B14F-4D97-AF65-F5344CB8AC3E}">
        <p14:creationId xmlns:p14="http://schemas.microsoft.com/office/powerpoint/2010/main" val="1628071548"/>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我们</a:t>
            </a:r>
            <a:r>
              <a:rPr lang="zh-CN" altLang="en-US" dirty="0" smtClean="0"/>
              <a:t>的祖先很早就开始探索星空了。远在战国时期，尸佼就在</a:t>
            </a:r>
            <a:r>
              <a:rPr lang="en-US" altLang="zh-CN" dirty="0" smtClean="0"/>
              <a:t>《</a:t>
            </a:r>
            <a:r>
              <a:rPr lang="zh-CN" altLang="en-US" dirty="0" smtClean="0"/>
              <a:t>尸子</a:t>
            </a:r>
            <a:r>
              <a:rPr lang="en-US" altLang="zh-CN" dirty="0" smtClean="0"/>
              <a:t>》</a:t>
            </a:r>
            <a:r>
              <a:rPr lang="zh-CN" altLang="en-US" dirty="0" smtClean="0"/>
              <a:t>中写到“四方上下曰宇，古往今来曰宙”，指出宇宙是空间和时间的总称。</a:t>
            </a:r>
            <a:endParaRPr lang="en-US" altLang="zh-CN" dirty="0" smtClean="0"/>
          </a:p>
          <a:p>
            <a:r>
              <a:rPr lang="zh-CN" altLang="en-US" dirty="0" smtClean="0"/>
              <a:t>汉代天文学家张衡认为“宇之表无极，宙之端无极”，意思是时间和空间都是无限的。</a:t>
            </a:r>
            <a:endParaRPr lang="en-US" altLang="zh-CN" dirty="0" smtClean="0"/>
          </a:p>
          <a:p>
            <a:pPr marL="0" indent="0">
              <a:buNone/>
            </a:pPr>
            <a:endParaRPr lang="en-US" altLang="zh-CN" dirty="0" smtClean="0"/>
          </a:p>
          <a:p>
            <a:pPr marL="0" indent="0">
              <a:buNone/>
            </a:pPr>
            <a:r>
              <a:rPr lang="zh-CN" altLang="en-US" dirty="0" smtClean="0"/>
              <a:t>通过辛勤的观测日月星辰，我们的祖先早在</a:t>
            </a:r>
            <a:r>
              <a:rPr lang="en-US" altLang="zh-CN" dirty="0" smtClean="0"/>
              <a:t>3000</a:t>
            </a:r>
            <a:r>
              <a:rPr lang="zh-CN" altLang="en-US" dirty="0" smtClean="0"/>
              <a:t>多年前就提出论述天与地关系的“盖天说”、“浑天说”及“宣夜说”。</a:t>
            </a:r>
            <a:endParaRPr lang="zh-CN" altLang="en-US" dirty="0"/>
          </a:p>
        </p:txBody>
      </p:sp>
    </p:spTree>
    <p:extLst>
      <p:ext uri="{BB962C8B-B14F-4D97-AF65-F5344CB8AC3E}">
        <p14:creationId xmlns:p14="http://schemas.microsoft.com/office/powerpoint/2010/main" val="243491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amond(in)">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858999" y="2035485"/>
            <a:ext cx="6333001" cy="4260383"/>
          </a:xfrm>
          <a:prstGeom prst="rect">
            <a:avLst/>
          </a:prstGeom>
        </p:spPr>
      </p:pic>
      <p:sp>
        <p:nvSpPr>
          <p:cNvPr id="2" name="标题 1"/>
          <p:cNvSpPr>
            <a:spLocks noGrp="1"/>
          </p:cNvSpPr>
          <p:nvPr>
            <p:ph type="title"/>
          </p:nvPr>
        </p:nvSpPr>
        <p:spPr/>
        <p:txBody>
          <a:bodyPr/>
          <a:lstStyle/>
          <a:p>
            <a:r>
              <a:rPr lang="zh-CN" altLang="en-US" dirty="0" smtClean="0"/>
              <a:t>盖天说</a:t>
            </a:r>
            <a:endParaRPr lang="zh-CN" altLang="en-US" dirty="0"/>
          </a:p>
        </p:txBody>
      </p:sp>
      <p:sp>
        <p:nvSpPr>
          <p:cNvPr id="3" name="内容占位符 2"/>
          <p:cNvSpPr>
            <a:spLocks noGrp="1"/>
          </p:cNvSpPr>
          <p:nvPr>
            <p:ph idx="1"/>
          </p:nvPr>
        </p:nvSpPr>
        <p:spPr>
          <a:xfrm>
            <a:off x="769495" y="1825624"/>
            <a:ext cx="5211580" cy="4770047"/>
          </a:xfrm>
        </p:spPr>
        <p:txBody>
          <a:bodyPr/>
          <a:lstStyle/>
          <a:p>
            <a:pPr marL="0" indent="0">
              <a:buNone/>
            </a:pPr>
            <a:r>
              <a:rPr lang="zh-CN" altLang="en-US" dirty="0" smtClean="0"/>
              <a:t>起源于商末</a:t>
            </a:r>
            <a:r>
              <a:rPr lang="zh-CN" altLang="en-US" dirty="0"/>
              <a:t>周初（约公元前</a:t>
            </a:r>
            <a:r>
              <a:rPr lang="en-US" altLang="zh-CN" dirty="0"/>
              <a:t>1000</a:t>
            </a:r>
            <a:r>
              <a:rPr lang="zh-CN" altLang="en-US" dirty="0"/>
              <a:t>年</a:t>
            </a:r>
            <a:r>
              <a:rPr lang="zh-CN" altLang="en-US" dirty="0" smtClean="0"/>
              <a:t>），在发展过程中有几种不同的见解。早期盖天说认为“天圆如张盖，地方如棋局”。但圆形的天与正方形大地无法吻合。于是有人提出天并不与地相接，而是像大伞一样悬在大地之上，地的周边有八根柱子支撑着。</a:t>
            </a:r>
            <a:r>
              <a:rPr lang="zh-CN" altLang="en-US" dirty="0">
                <a:solidFill>
                  <a:srgbClr val="FFFF00"/>
                </a:solidFill>
              </a:rPr>
              <a:t>共工怒触不周山</a:t>
            </a:r>
            <a:r>
              <a:rPr lang="zh-CN" altLang="en-US" dirty="0"/>
              <a:t>和</a:t>
            </a:r>
            <a:r>
              <a:rPr lang="zh-CN" altLang="en-US" dirty="0">
                <a:solidFill>
                  <a:srgbClr val="FFFF00"/>
                </a:solidFill>
              </a:rPr>
              <a:t>女娲氏炼石补天</a:t>
            </a:r>
            <a:r>
              <a:rPr lang="zh-CN" altLang="en-US" dirty="0"/>
              <a:t>的神话正是以持这种见解的盖天说为依据的</a:t>
            </a:r>
            <a:r>
              <a:rPr lang="zh-CN" altLang="en-US" dirty="0" smtClean="0"/>
              <a:t>。</a:t>
            </a:r>
            <a:endParaRPr lang="en-US" altLang="zh-CN" dirty="0" smtClean="0"/>
          </a:p>
        </p:txBody>
      </p:sp>
    </p:spTree>
    <p:extLst>
      <p:ext uri="{BB962C8B-B14F-4D97-AF65-F5344CB8AC3E}">
        <p14:creationId xmlns:p14="http://schemas.microsoft.com/office/powerpoint/2010/main" val="90119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424065"/>
            <a:ext cx="4543269" cy="4752897"/>
          </a:xfrm>
        </p:spPr>
        <p:txBody>
          <a:bodyPr/>
          <a:lstStyle/>
          <a:p>
            <a:r>
              <a:rPr lang="zh-CN" altLang="en-US" dirty="0"/>
              <a:t>还有一种形成较晚的盖天说提出天是球穹状的，地也是球穹状的，两者间的间距是</a:t>
            </a:r>
            <a:r>
              <a:rPr lang="en-US" altLang="zh-CN" dirty="0"/>
              <a:t>8</a:t>
            </a:r>
            <a:r>
              <a:rPr lang="zh-CN" altLang="en-US" dirty="0"/>
              <a:t>万里，北极位于天穹的中央，日月星辰绕之旋转不息，盖天说通常把日月星辰的出没解释为它们运行时远近距离变化所致，离远了就看不见，离近了就看见它们照耀。</a:t>
            </a:r>
            <a:endParaRPr lang="en-US"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4485" y="2125166"/>
            <a:ext cx="5771300" cy="3350693"/>
          </a:xfrm>
          <a:prstGeom prst="rect">
            <a:avLst/>
          </a:prstGeom>
        </p:spPr>
      </p:pic>
    </p:spTree>
    <p:extLst>
      <p:ext uri="{BB962C8B-B14F-4D97-AF65-F5344CB8AC3E}">
        <p14:creationId xmlns:p14="http://schemas.microsoft.com/office/powerpoint/2010/main" val="220050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0374" r="11617"/>
          <a:stretch/>
        </p:blipFill>
        <p:spPr>
          <a:xfrm>
            <a:off x="6535712" y="1329052"/>
            <a:ext cx="5066675" cy="4847911"/>
          </a:xfrm>
          <a:prstGeom prst="rect">
            <a:avLst/>
          </a:prstGeom>
        </p:spPr>
      </p:pic>
      <p:sp>
        <p:nvSpPr>
          <p:cNvPr id="2" name="标题 1"/>
          <p:cNvSpPr>
            <a:spLocks noGrp="1"/>
          </p:cNvSpPr>
          <p:nvPr>
            <p:ph type="title"/>
          </p:nvPr>
        </p:nvSpPr>
        <p:spPr/>
        <p:txBody>
          <a:bodyPr/>
          <a:lstStyle/>
          <a:p>
            <a:r>
              <a:rPr lang="zh-CN" altLang="en-US" dirty="0" smtClean="0"/>
              <a:t>浑天说</a:t>
            </a:r>
            <a:endParaRPr lang="zh-CN" altLang="en-US" dirty="0"/>
          </a:p>
        </p:txBody>
      </p:sp>
      <p:sp>
        <p:nvSpPr>
          <p:cNvPr id="3" name="内容占位符 2"/>
          <p:cNvSpPr>
            <a:spLocks noGrp="1"/>
          </p:cNvSpPr>
          <p:nvPr>
            <p:ph idx="1"/>
          </p:nvPr>
        </p:nvSpPr>
        <p:spPr>
          <a:xfrm>
            <a:off x="838200" y="1690688"/>
            <a:ext cx="5592580" cy="4486275"/>
          </a:xfrm>
        </p:spPr>
        <p:txBody>
          <a:bodyPr>
            <a:normAutofit lnSpcReduction="10000"/>
          </a:bodyPr>
          <a:lstStyle/>
          <a:p>
            <a:pPr marL="0" indent="0">
              <a:buNone/>
            </a:pPr>
            <a:r>
              <a:rPr lang="zh-CN" altLang="en-US" dirty="0" smtClean="0"/>
              <a:t>浑天说主张大地是个球形，外裹着一个球状的天穹，地浮于天表内的水上。</a:t>
            </a:r>
            <a:endParaRPr lang="en-US" altLang="zh-CN" dirty="0" smtClean="0"/>
          </a:p>
          <a:p>
            <a:pPr marL="0" indent="0">
              <a:buNone/>
            </a:pPr>
            <a:r>
              <a:rPr lang="zh-CN" altLang="en-US" dirty="0" smtClean="0"/>
              <a:t>后来</a:t>
            </a:r>
            <a:r>
              <a:rPr lang="zh-CN" altLang="en-US" dirty="0"/>
              <a:t>又有发展，认为地球浮在气中，因此有可能回旋浮动，这就是“地有四游”的朴素地动说的先河</a:t>
            </a:r>
            <a:r>
              <a:rPr lang="zh-CN" altLang="en-US" dirty="0" smtClean="0"/>
              <a:t>。</a:t>
            </a:r>
            <a:endParaRPr lang="en-US" altLang="zh-CN" dirty="0" smtClean="0"/>
          </a:p>
          <a:p>
            <a:pPr marL="0" indent="0">
              <a:buNone/>
            </a:pPr>
            <a:r>
              <a:rPr lang="zh-CN" altLang="en-US" dirty="0" smtClean="0"/>
              <a:t>浑天说</a:t>
            </a:r>
            <a:r>
              <a:rPr lang="zh-CN" altLang="en-US" dirty="0"/>
              <a:t>认为全天恒星都布于一个“天球”上，而日月五星则附丽于“天球”上</a:t>
            </a:r>
            <a:r>
              <a:rPr lang="zh-CN" altLang="en-US" dirty="0" smtClean="0"/>
              <a:t>运行</a:t>
            </a:r>
            <a:r>
              <a:rPr lang="en-US" altLang="zh-CN" dirty="0" smtClean="0"/>
              <a:t>.</a:t>
            </a:r>
          </a:p>
          <a:p>
            <a:pPr marL="0" indent="0">
              <a:buNone/>
            </a:pPr>
            <a:r>
              <a:rPr lang="zh-CN" altLang="en-US" dirty="0" smtClean="0"/>
              <a:t>这一学说的代表人物有张衡、惠施、慎到等。</a:t>
            </a:r>
            <a:endParaRPr lang="en-US" altLang="zh-CN" dirty="0" smtClean="0"/>
          </a:p>
        </p:txBody>
      </p:sp>
    </p:spTree>
    <p:extLst>
      <p:ext uri="{BB962C8B-B14F-4D97-AF65-F5344CB8AC3E}">
        <p14:creationId xmlns:p14="http://schemas.microsoft.com/office/powerpoint/2010/main" val="400238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80">
                                          <p:stCondLst>
                                            <p:cond delay="0"/>
                                          </p:stCondLst>
                                        </p:cTn>
                                        <p:tgtEl>
                                          <p:spTgt spid="4"/>
                                        </p:tgtEl>
                                      </p:cBhvr>
                                    </p:animEffect>
                                    <p:anim calcmode="lin" valueType="num">
                                      <p:cBhvr>
                                        <p:cTn id="2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3" dur="26">
                                          <p:stCondLst>
                                            <p:cond delay="650"/>
                                          </p:stCondLst>
                                        </p:cTn>
                                        <p:tgtEl>
                                          <p:spTgt spid="4"/>
                                        </p:tgtEl>
                                      </p:cBhvr>
                                      <p:to x="100000" y="60000"/>
                                    </p:animScale>
                                    <p:animScale>
                                      <p:cBhvr>
                                        <p:cTn id="34" dur="166" decel="50000">
                                          <p:stCondLst>
                                            <p:cond delay="676"/>
                                          </p:stCondLst>
                                        </p:cTn>
                                        <p:tgtEl>
                                          <p:spTgt spid="4"/>
                                        </p:tgtEl>
                                      </p:cBhvr>
                                      <p:to x="100000" y="100000"/>
                                    </p:animScale>
                                    <p:animScale>
                                      <p:cBhvr>
                                        <p:cTn id="35" dur="26">
                                          <p:stCondLst>
                                            <p:cond delay="1312"/>
                                          </p:stCondLst>
                                        </p:cTn>
                                        <p:tgtEl>
                                          <p:spTgt spid="4"/>
                                        </p:tgtEl>
                                      </p:cBhvr>
                                      <p:to x="100000" y="80000"/>
                                    </p:animScale>
                                    <p:animScale>
                                      <p:cBhvr>
                                        <p:cTn id="36" dur="166" decel="50000">
                                          <p:stCondLst>
                                            <p:cond delay="1338"/>
                                          </p:stCondLst>
                                        </p:cTn>
                                        <p:tgtEl>
                                          <p:spTgt spid="4"/>
                                        </p:tgtEl>
                                      </p:cBhvr>
                                      <p:to x="100000" y="100000"/>
                                    </p:animScale>
                                    <p:animScale>
                                      <p:cBhvr>
                                        <p:cTn id="37" dur="26">
                                          <p:stCondLst>
                                            <p:cond delay="1642"/>
                                          </p:stCondLst>
                                        </p:cTn>
                                        <p:tgtEl>
                                          <p:spTgt spid="4"/>
                                        </p:tgtEl>
                                      </p:cBhvr>
                                      <p:to x="100000" y="90000"/>
                                    </p:animScale>
                                    <p:animScale>
                                      <p:cBhvr>
                                        <p:cTn id="38" dur="166" decel="50000">
                                          <p:stCondLst>
                                            <p:cond delay="1668"/>
                                          </p:stCondLst>
                                        </p:cTn>
                                        <p:tgtEl>
                                          <p:spTgt spid="4"/>
                                        </p:tgtEl>
                                      </p:cBhvr>
                                      <p:to x="100000" y="100000"/>
                                    </p:animScale>
                                    <p:animScale>
                                      <p:cBhvr>
                                        <p:cTn id="39" dur="26">
                                          <p:stCondLst>
                                            <p:cond delay="1808"/>
                                          </p:stCondLst>
                                        </p:cTn>
                                        <p:tgtEl>
                                          <p:spTgt spid="4"/>
                                        </p:tgtEl>
                                      </p:cBhvr>
                                      <p:to x="100000" y="95000"/>
                                    </p:animScale>
                                    <p:animScale>
                                      <p:cBhvr>
                                        <p:cTn id="4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smtClean="0"/>
              <a:t>张衡的描述</a:t>
            </a:r>
            <a:endParaRPr lang="zh-CN" altLang="en-US" sz="3600" dirty="0"/>
          </a:p>
        </p:txBody>
      </p:sp>
      <p:sp>
        <p:nvSpPr>
          <p:cNvPr id="3" name="内容占位符 2"/>
          <p:cNvSpPr>
            <a:spLocks noGrp="1"/>
          </p:cNvSpPr>
          <p:nvPr>
            <p:ph idx="1"/>
          </p:nvPr>
        </p:nvSpPr>
        <p:spPr>
          <a:xfrm>
            <a:off x="838200" y="1469036"/>
            <a:ext cx="10515600" cy="4707927"/>
          </a:xfrm>
        </p:spPr>
        <p:txBody>
          <a:bodyPr>
            <a:normAutofit lnSpcReduction="10000"/>
          </a:bodyPr>
          <a:lstStyle/>
          <a:p>
            <a:pPr marL="0" indent="0">
              <a:buNone/>
            </a:pPr>
            <a:r>
              <a:rPr lang="en-US" altLang="zh-CN" dirty="0"/>
              <a:t>《</a:t>
            </a:r>
            <a:r>
              <a:rPr lang="zh-CN" altLang="en-US" dirty="0"/>
              <a:t>张衡浑仪注</a:t>
            </a:r>
            <a:r>
              <a:rPr lang="en-US" altLang="zh-CN" dirty="0"/>
              <a:t>》</a:t>
            </a:r>
            <a:endParaRPr lang="en-US" altLang="zh-CN" dirty="0" smtClean="0"/>
          </a:p>
          <a:p>
            <a:pPr marL="0" indent="0">
              <a:buNone/>
            </a:pPr>
            <a:r>
              <a:rPr lang="zh-CN" altLang="en-US" dirty="0" smtClean="0"/>
              <a:t>浑</a:t>
            </a:r>
            <a:r>
              <a:rPr lang="zh-CN" altLang="en-US" dirty="0"/>
              <a:t>天如鸡子。天体圆如弹丸，地如鸡子中黄，孤居于天内，天大而地小。天表里有水，天之包地，犹壳之裹黄。天地各乘气而立，载水而浮。周天三百六十五度又四分度之一，又中分之，则半一百八十二度八分度之五覆地上，半绕地下，故二十八宿半见半隐。其两端谓之南北极。北极乃天之中也，在正北，出地上三十六度。然则北极上规径七十二度，常见不隐。南极天地之中也，在正南，入地三十六度。南规七十二度常伏不见。两极相去一百八十二度强半。天转如车毂之运也，周旋无端，其形浑浑，故曰浑天</a:t>
            </a:r>
            <a:r>
              <a:rPr lang="zh-CN" altLang="en-US" dirty="0" smtClean="0"/>
              <a:t>。</a:t>
            </a:r>
            <a:endParaRPr lang="en-US" altLang="zh-CN" dirty="0" smtClean="0"/>
          </a:p>
          <a:p>
            <a:pPr marL="0" indent="0">
              <a:buNone/>
            </a:pPr>
            <a:r>
              <a:rPr lang="en-US" altLang="zh-CN" dirty="0"/>
              <a:t>《</a:t>
            </a:r>
            <a:r>
              <a:rPr lang="zh-CN" altLang="en-US" dirty="0"/>
              <a:t>灵宪</a:t>
            </a:r>
            <a:r>
              <a:rPr lang="en-US" altLang="zh-CN" dirty="0"/>
              <a:t>》</a:t>
            </a:r>
          </a:p>
          <a:p>
            <a:pPr marL="0" indent="0">
              <a:buNone/>
            </a:pPr>
            <a:r>
              <a:rPr lang="zh-CN" altLang="en-US" dirty="0"/>
              <a:t>过此而往者，未之或知也。未之或知者，宇宙之谓也。宇之表无极，宙之端无穷。</a:t>
            </a:r>
          </a:p>
          <a:p>
            <a:pPr marL="0" indent="0">
              <a:buNone/>
            </a:pPr>
            <a:endParaRPr lang="zh-CN" altLang="en-US" dirty="0"/>
          </a:p>
        </p:txBody>
      </p:sp>
    </p:spTree>
    <p:extLst>
      <p:ext uri="{BB962C8B-B14F-4D97-AF65-F5344CB8AC3E}">
        <p14:creationId xmlns:p14="http://schemas.microsoft.com/office/powerpoint/2010/main" val="219733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970" y="2472971"/>
            <a:ext cx="4243577" cy="4385029"/>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9460" y="2472971"/>
            <a:ext cx="3476093" cy="4390401"/>
          </a:xfrm>
          <a:prstGeom prst="rect">
            <a:avLst/>
          </a:prstGeom>
        </p:spPr>
      </p:pic>
      <p:sp>
        <p:nvSpPr>
          <p:cNvPr id="3" name="内容占位符 2"/>
          <p:cNvSpPr>
            <a:spLocks noGrp="1"/>
          </p:cNvSpPr>
          <p:nvPr>
            <p:ph idx="1"/>
          </p:nvPr>
        </p:nvSpPr>
        <p:spPr>
          <a:xfrm>
            <a:off x="688297" y="101426"/>
            <a:ext cx="11122327" cy="4351338"/>
          </a:xfrm>
        </p:spPr>
        <p:txBody>
          <a:bodyPr/>
          <a:lstStyle/>
          <a:p>
            <a:pPr marL="0" indent="0">
              <a:buNone/>
            </a:pPr>
            <a:r>
              <a:rPr lang="zh-CN" altLang="en-US" dirty="0" smtClean="0"/>
              <a:t>相比于盖天说，浑天说能够更好地解释很多天象。而且，浑天家根据当时最先进的观天仪</a:t>
            </a:r>
            <a:r>
              <a:rPr lang="en-US" altLang="zh-CN" dirty="0" smtClean="0"/>
              <a:t>——</a:t>
            </a:r>
            <a:r>
              <a:rPr lang="zh-CN" altLang="en-US" dirty="0" smtClean="0"/>
              <a:t>浑天仪，可以用精确的观测事实来论证浑天说。根据浑天仪而来的浑象，可以形象地描述天体的运行。因此，浑天说在提出后逐渐取得了优势地位。到唐代，一行等人通过天地测试彻底否定了盖天说，使浑天说在中国古代天文学领域称雄近千年。但一直到明末，盖天说都没有退出历史舞台。</a:t>
            </a:r>
            <a:endParaRPr lang="zh-CN" altLang="en-US" dirty="0"/>
          </a:p>
        </p:txBody>
      </p:sp>
    </p:spTree>
    <p:extLst>
      <p:ext uri="{BB962C8B-B14F-4D97-AF65-F5344CB8AC3E}">
        <p14:creationId xmlns:p14="http://schemas.microsoft.com/office/powerpoint/2010/main" val="159721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宣夜说</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万物万事都由气构成，上到日月星辰，下到山川草木。宣夜说认为“天”没有一固定的天穹，只不过是无边无涯的气体。日月星辰都在气体中浮动。</a:t>
            </a:r>
            <a:endParaRPr lang="en-US" altLang="zh-CN" dirty="0" smtClean="0"/>
          </a:p>
          <a:p>
            <a:pPr marL="0" indent="0">
              <a:buNone/>
            </a:pPr>
            <a:endParaRPr lang="en-US" altLang="zh-CN" dirty="0" smtClean="0"/>
          </a:p>
          <a:p>
            <a:pPr marL="0" indent="0">
              <a:buNone/>
            </a:pPr>
            <a:r>
              <a:rPr lang="zh-CN" altLang="en-US" dirty="0"/>
              <a:t>天之</a:t>
            </a:r>
            <a:r>
              <a:rPr lang="zh-CN" altLang="en-US" dirty="0" smtClean="0"/>
              <a:t>苍苍，其正色邪？其远而无所至极邪？ </a:t>
            </a:r>
            <a:r>
              <a:rPr lang="en-US" altLang="zh-CN" dirty="0" smtClean="0"/>
              <a:t>《</a:t>
            </a:r>
            <a:r>
              <a:rPr lang="zh-CN" altLang="en-US" dirty="0" smtClean="0"/>
              <a:t>逍遥游</a:t>
            </a:r>
            <a:r>
              <a:rPr lang="en-US" altLang="zh-CN" dirty="0" smtClean="0"/>
              <a:t>》</a:t>
            </a:r>
          </a:p>
          <a:p>
            <a:pPr marL="0" indent="0">
              <a:buNone/>
            </a:pPr>
            <a:r>
              <a:rPr lang="zh-CN" altLang="en-US" dirty="0"/>
              <a:t>夫天，元气也，皓然而</a:t>
            </a:r>
            <a:r>
              <a:rPr lang="zh-CN" altLang="en-US" dirty="0" smtClean="0"/>
              <a:t>已  </a:t>
            </a:r>
            <a:r>
              <a:rPr lang="en-US" altLang="zh-CN" dirty="0" smtClean="0"/>
              <a:t>《</a:t>
            </a:r>
            <a:r>
              <a:rPr lang="zh-CN" altLang="en-US" dirty="0" smtClean="0"/>
              <a:t>物理论</a:t>
            </a:r>
            <a:r>
              <a:rPr lang="en-US" altLang="zh-CN" dirty="0" smtClean="0"/>
              <a:t>》</a:t>
            </a:r>
            <a:r>
              <a:rPr lang="zh-CN" altLang="en-US" dirty="0" smtClean="0"/>
              <a:t>杨泉（三国）</a:t>
            </a:r>
            <a:endParaRPr lang="en-US" altLang="zh-CN" dirty="0" smtClean="0"/>
          </a:p>
          <a:p>
            <a:pPr marL="0" indent="0">
              <a:buNone/>
            </a:pPr>
            <a:r>
              <a:rPr lang="zh-CN" altLang="en-US" dirty="0"/>
              <a:t>元气论</a:t>
            </a:r>
          </a:p>
        </p:txBody>
      </p:sp>
    </p:spTree>
    <p:extLst>
      <p:ext uri="{BB962C8B-B14F-4D97-AF65-F5344CB8AC3E}">
        <p14:creationId xmlns:p14="http://schemas.microsoft.com/office/powerpoint/2010/main" val="128947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相比于浑天说，宣夜说无法对日月星辰的运动进行说明，无法探究其规律性，但他提出了一个朴素的无限宇宙观，在人类认识宇宙的历史上，有着很重要的意义。</a:t>
            </a:r>
            <a:endParaRPr lang="zh-CN" altLang="en-US" dirty="0"/>
          </a:p>
        </p:txBody>
      </p:sp>
    </p:spTree>
    <p:extLst>
      <p:ext uri="{BB962C8B-B14F-4D97-AF65-F5344CB8AC3E}">
        <p14:creationId xmlns:p14="http://schemas.microsoft.com/office/powerpoint/2010/main" val="6483488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45692"/>
            <a:ext cx="3076184" cy="4712308"/>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8092" y="3382473"/>
            <a:ext cx="3385569" cy="3294477"/>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0432" y="3195577"/>
            <a:ext cx="4176086" cy="3481373"/>
          </a:xfrm>
          <a:prstGeom prst="rect">
            <a:avLst/>
          </a:prstGeom>
        </p:spPr>
      </p:pic>
      <p:sp>
        <p:nvSpPr>
          <p:cNvPr id="2" name="标题 1"/>
          <p:cNvSpPr>
            <a:spLocks noGrp="1"/>
          </p:cNvSpPr>
          <p:nvPr>
            <p:ph type="title"/>
          </p:nvPr>
        </p:nvSpPr>
        <p:spPr/>
        <p:txBody>
          <a:bodyPr/>
          <a:lstStyle/>
          <a:p>
            <a:r>
              <a:rPr lang="zh-CN" altLang="en-US" dirty="0" smtClean="0"/>
              <a:t>三垣四象二十八宿</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smtClean="0"/>
              <a:t>三垣：紫微垣、太微垣、天市垣</a:t>
            </a:r>
            <a:endParaRPr lang="en-US" altLang="zh-CN" dirty="0" smtClean="0"/>
          </a:p>
          <a:p>
            <a:r>
              <a:rPr lang="zh-CN" altLang="en-US" dirty="0"/>
              <a:t>四</a:t>
            </a:r>
            <a:r>
              <a:rPr lang="zh-CN" altLang="en-US" dirty="0" smtClean="0"/>
              <a:t>象：东方苍龙，</a:t>
            </a:r>
            <a:r>
              <a:rPr lang="zh-CN" altLang="en-US" dirty="0"/>
              <a:t>北方</a:t>
            </a:r>
            <a:r>
              <a:rPr lang="zh-CN" altLang="en-US" dirty="0" smtClean="0"/>
              <a:t>玄武，</a:t>
            </a:r>
            <a:r>
              <a:rPr lang="zh-CN" altLang="en-US" dirty="0"/>
              <a:t>西方</a:t>
            </a:r>
            <a:r>
              <a:rPr lang="zh-CN" altLang="en-US" dirty="0" smtClean="0"/>
              <a:t>白虎，</a:t>
            </a:r>
            <a:r>
              <a:rPr lang="zh-CN" altLang="en-US" dirty="0"/>
              <a:t>南方朱雀</a:t>
            </a:r>
            <a:endParaRPr lang="en-US" altLang="zh-CN" dirty="0" smtClean="0"/>
          </a:p>
          <a:p>
            <a:r>
              <a:rPr lang="zh-CN" altLang="en-US" dirty="0" smtClean="0"/>
              <a:t>二十八宿：</a:t>
            </a:r>
            <a:r>
              <a:rPr lang="zh-CN" altLang="en-US" dirty="0"/>
              <a:t>东方七宿：角、亢、氐、房、心、尾、箕</a:t>
            </a:r>
            <a:r>
              <a:rPr lang="zh-CN" altLang="en-US" dirty="0" smtClean="0"/>
              <a:t>；</a:t>
            </a:r>
          </a:p>
          <a:p>
            <a:pPr marL="0" indent="0">
              <a:buNone/>
            </a:pPr>
            <a:r>
              <a:rPr lang="en-US" altLang="zh-CN" dirty="0"/>
              <a:t>                         </a:t>
            </a:r>
            <a:r>
              <a:rPr lang="zh-CN" altLang="en-US" dirty="0"/>
              <a:t>北方七宿</a:t>
            </a:r>
            <a:r>
              <a:rPr lang="zh-CN" altLang="en-US" dirty="0" smtClean="0"/>
              <a:t>：斗、牛、女、虚、危、室（营室）、壁（东壁）；</a:t>
            </a:r>
          </a:p>
          <a:p>
            <a:pPr marL="0" indent="0">
              <a:buNone/>
            </a:pPr>
            <a:r>
              <a:rPr lang="zh-CN" altLang="en-US" dirty="0"/>
              <a:t> </a:t>
            </a:r>
            <a:r>
              <a:rPr lang="zh-CN" altLang="en-US" dirty="0" smtClean="0"/>
              <a:t>                        西方</a:t>
            </a:r>
            <a:r>
              <a:rPr lang="zh-CN" altLang="en-US" dirty="0"/>
              <a:t>七宿：奎、娄、胃、昴、毕、觜、参；</a:t>
            </a:r>
          </a:p>
          <a:p>
            <a:pPr marL="0" indent="0">
              <a:buNone/>
            </a:pPr>
            <a:r>
              <a:rPr lang="zh-CN" altLang="en-US" dirty="0" smtClean="0"/>
              <a:t>                         南方</a:t>
            </a:r>
            <a:r>
              <a:rPr lang="zh-CN" altLang="en-US" dirty="0"/>
              <a:t>七宿：井（东井）、鬼（舆鬼）、柳、星（七星）、张、翼、轸</a:t>
            </a:r>
          </a:p>
          <a:p>
            <a:endParaRPr lang="en-US" altLang="zh-CN" dirty="0"/>
          </a:p>
          <a:p>
            <a:endParaRPr lang="en-US" altLang="zh-CN" dirty="0" smtClean="0"/>
          </a:p>
          <a:p>
            <a:r>
              <a:rPr lang="zh-CN" altLang="en-US" dirty="0" smtClean="0"/>
              <a:t>最早</a:t>
            </a:r>
            <a:r>
              <a:rPr lang="zh-CN" altLang="en-US" dirty="0"/>
              <a:t>的完整文字记录见诸于</a:t>
            </a:r>
            <a:r>
              <a:rPr lang="en-US" altLang="zh-CN" dirty="0"/>
              <a:t>《</a:t>
            </a:r>
            <a:r>
              <a:rPr lang="zh-CN" altLang="en-US" dirty="0"/>
              <a:t>史记</a:t>
            </a:r>
            <a:r>
              <a:rPr lang="en-US" altLang="zh-CN" dirty="0"/>
              <a:t>·</a:t>
            </a:r>
            <a:r>
              <a:rPr lang="zh-CN" altLang="en-US" dirty="0"/>
              <a:t>天官书</a:t>
            </a:r>
            <a:r>
              <a:rPr lang="en-US" altLang="zh-CN" dirty="0"/>
              <a:t>》</a:t>
            </a:r>
            <a:r>
              <a:rPr lang="zh-CN" altLang="en-US" dirty="0" smtClean="0"/>
              <a:t>中</a:t>
            </a:r>
            <a:endParaRPr lang="en-US" altLang="zh-CN" dirty="0" smtClean="0"/>
          </a:p>
          <a:p>
            <a:r>
              <a:rPr lang="zh-CN" altLang="en-US" dirty="0"/>
              <a:t>天官</a:t>
            </a:r>
            <a:r>
              <a:rPr lang="zh-CN" altLang="en-US" dirty="0" smtClean="0"/>
              <a:t>书的第一部分介绍天空中的恒星，将天空分为五宫，即中、东、西、南、北五宫来记述三垣二十八宿中的恒星</a:t>
            </a:r>
            <a:endParaRPr lang="zh-CN" altLang="en-US" dirty="0"/>
          </a:p>
        </p:txBody>
      </p:sp>
    </p:spTree>
    <p:extLst>
      <p:ext uri="{BB962C8B-B14F-4D97-AF65-F5344CB8AC3E}">
        <p14:creationId xmlns:p14="http://schemas.microsoft.com/office/powerpoint/2010/main" val="857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xit" presetSubtype="0" fill="hold" nodeType="clickEffect">
                                  <p:stCondLst>
                                    <p:cond delay="0"/>
                                  </p:stCondLst>
                                  <p:childTnLst>
                                    <p:animEffect transition="out" filter="fade">
                                      <p:cBhvr>
                                        <p:cTn id="10" dur="1000"/>
                                        <p:tgtEl>
                                          <p:spTgt spid="4"/>
                                        </p:tgtEl>
                                      </p:cBhvr>
                                    </p:animEffect>
                                    <p:anim calcmode="lin" valueType="num">
                                      <p:cBhvr>
                                        <p:cTn id="11" dur="1000"/>
                                        <p:tgtEl>
                                          <p:spTgt spid="4"/>
                                        </p:tgtEl>
                                        <p:attrNameLst>
                                          <p:attrName>ppt_x</p:attrName>
                                        </p:attrNameLst>
                                      </p:cBhvr>
                                      <p:tavLst>
                                        <p:tav tm="0">
                                          <p:val>
                                            <p:strVal val="ppt_x"/>
                                          </p:val>
                                        </p:tav>
                                        <p:tav tm="100000">
                                          <p:val>
                                            <p:strVal val="ppt_x"/>
                                          </p:val>
                                        </p:tav>
                                      </p:tavLst>
                                    </p:anim>
                                    <p:anim calcmode="lin" valueType="num">
                                      <p:cBhvr>
                                        <p:cTn id="12" dur="1000"/>
                                        <p:tgtEl>
                                          <p:spTgt spid="4"/>
                                        </p:tgtEl>
                                        <p:attrNameLst>
                                          <p:attrName>ppt_y</p:attrName>
                                        </p:attrNameLst>
                                      </p:cBhvr>
                                      <p:tavLst>
                                        <p:tav tm="0">
                                          <p:val>
                                            <p:strVal val="ppt_y"/>
                                          </p:val>
                                        </p:tav>
                                        <p:tav tm="100000">
                                          <p:val>
                                            <p:strVal val="ppt_y+.1"/>
                                          </p:val>
                                        </p:tav>
                                      </p:tavLst>
                                    </p:anim>
                                    <p:set>
                                      <p:cBhvr>
                                        <p:cTn id="13" dur="1" fill="hold">
                                          <p:stCondLst>
                                            <p:cond delay="999"/>
                                          </p:stCondLst>
                                        </p:cTn>
                                        <p:tgtEl>
                                          <p:spTgt spid="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2" presetClass="exit" presetSubtype="0" fill="hold" nodeType="clickEffect">
                                  <p:stCondLst>
                                    <p:cond delay="0"/>
                                  </p:stCondLst>
                                  <p:childTnLst>
                                    <p:animEffect transition="out" filter="fade">
                                      <p:cBhvr>
                                        <p:cTn id="17" dur="1000"/>
                                        <p:tgtEl>
                                          <p:spTgt spid="5"/>
                                        </p:tgtEl>
                                      </p:cBhvr>
                                    </p:animEffect>
                                    <p:anim calcmode="lin" valueType="num">
                                      <p:cBhvr>
                                        <p:cTn id="18" dur="1000"/>
                                        <p:tgtEl>
                                          <p:spTgt spid="5"/>
                                        </p:tgtEl>
                                        <p:attrNameLst>
                                          <p:attrName>ppt_x</p:attrName>
                                        </p:attrNameLst>
                                      </p:cBhvr>
                                      <p:tavLst>
                                        <p:tav tm="0">
                                          <p:val>
                                            <p:strVal val="ppt_x"/>
                                          </p:val>
                                        </p:tav>
                                        <p:tav tm="100000">
                                          <p:val>
                                            <p:strVal val="ppt_x"/>
                                          </p:val>
                                        </p:tav>
                                      </p:tavLst>
                                    </p:anim>
                                    <p:anim calcmode="lin" valueType="num">
                                      <p:cBhvr>
                                        <p:cTn id="19" dur="1000"/>
                                        <p:tgtEl>
                                          <p:spTgt spid="5"/>
                                        </p:tgtEl>
                                        <p:attrNameLst>
                                          <p:attrName>ppt_y</p:attrName>
                                        </p:attrNameLst>
                                      </p:cBhvr>
                                      <p:tavLst>
                                        <p:tav tm="0">
                                          <p:val>
                                            <p:strVal val="ppt_y"/>
                                          </p:val>
                                        </p:tav>
                                        <p:tav tm="100000">
                                          <p:val>
                                            <p:strVal val="ppt_y+.1"/>
                                          </p:val>
                                        </p:tav>
                                      </p:tavLst>
                                    </p:anim>
                                    <p:set>
                                      <p:cBhvr>
                                        <p:cTn id="20" dur="1" fill="hold">
                                          <p:stCondLst>
                                            <p:cond delay="999"/>
                                          </p:stCondLst>
                                        </p:cTn>
                                        <p:tgtEl>
                                          <p:spTgt spid="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fade">
                                      <p:cBhvr>
                                        <p:cTn id="37" dur="1000"/>
                                        <p:tgtEl>
                                          <p:spTgt spid="3">
                                            <p:txEl>
                                              <p:pRg st="2" end="2"/>
                                            </p:txEl>
                                          </p:spTgt>
                                        </p:tgtEl>
                                      </p:cBhvr>
                                    </p:animEffect>
                                    <p:anim calcmode="lin" valueType="num">
                                      <p:cBhvr>
                                        <p:cTn id="3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fade">
                                      <p:cBhvr>
                                        <p:cTn id="44" dur="1000"/>
                                        <p:tgtEl>
                                          <p:spTgt spid="3">
                                            <p:txEl>
                                              <p:pRg st="3" end="3"/>
                                            </p:txEl>
                                          </p:spTgt>
                                        </p:tgtEl>
                                      </p:cBhvr>
                                    </p:animEffect>
                                    <p:anim calcmode="lin" valueType="num">
                                      <p:cBhvr>
                                        <p:cTn id="4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Effect transition="in" filter="fade">
                                      <p:cBhvr>
                                        <p:cTn id="51" dur="1000"/>
                                        <p:tgtEl>
                                          <p:spTgt spid="3">
                                            <p:txEl>
                                              <p:pRg st="4" end="4"/>
                                            </p:txEl>
                                          </p:spTgt>
                                        </p:tgtEl>
                                      </p:cBhvr>
                                    </p:animEffect>
                                    <p:anim calcmode="lin" valueType="num">
                                      <p:cBhvr>
                                        <p:cTn id="5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
                                            <p:txEl>
                                              <p:pRg st="5" end="5"/>
                                            </p:txEl>
                                          </p:spTgt>
                                        </p:tgtEl>
                                        <p:attrNameLst>
                                          <p:attrName>style.visibility</p:attrName>
                                        </p:attrNameLst>
                                      </p:cBhvr>
                                      <p:to>
                                        <p:strVal val="visible"/>
                                      </p:to>
                                    </p:set>
                                    <p:animEffect transition="in" filter="fade">
                                      <p:cBhvr>
                                        <p:cTn id="58" dur="1000"/>
                                        <p:tgtEl>
                                          <p:spTgt spid="3">
                                            <p:txEl>
                                              <p:pRg st="5" end="5"/>
                                            </p:txEl>
                                          </p:spTgt>
                                        </p:tgtEl>
                                      </p:cBhvr>
                                    </p:animEffect>
                                    <p:anim calcmode="lin" valueType="num">
                                      <p:cBhvr>
                                        <p:cTn id="5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animEffect transition="in" filter="fade">
                                      <p:cBhvr>
                                        <p:cTn id="65" dur="1000"/>
                                        <p:tgtEl>
                                          <p:spTgt spid="3">
                                            <p:txEl>
                                              <p:pRg st="8" end="8"/>
                                            </p:txEl>
                                          </p:spTgt>
                                        </p:tgtEl>
                                      </p:cBhvr>
                                    </p:animEffect>
                                    <p:anim calcmode="lin" valueType="num">
                                      <p:cBhvr>
                                        <p:cTn id="6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3">
                                            <p:txEl>
                                              <p:pRg st="9" end="9"/>
                                            </p:txEl>
                                          </p:spTgt>
                                        </p:tgtEl>
                                        <p:attrNameLst>
                                          <p:attrName>style.visibility</p:attrName>
                                        </p:attrNameLst>
                                      </p:cBhvr>
                                      <p:to>
                                        <p:strVal val="visible"/>
                                      </p:to>
                                    </p:set>
                                    <p:animEffect transition="in" filter="fade">
                                      <p:cBhvr>
                                        <p:cTn id="72" dur="1000"/>
                                        <p:tgtEl>
                                          <p:spTgt spid="3">
                                            <p:txEl>
                                              <p:pRg st="9" end="9"/>
                                            </p:txEl>
                                          </p:spTgt>
                                        </p:tgtEl>
                                      </p:cBhvr>
                                    </p:animEffect>
                                    <p:anim calcmode="lin" valueType="num">
                                      <p:cBhvr>
                                        <p:cTn id="7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23672"/>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02  </a:t>
            </a:r>
            <a:r>
              <a:rPr lang="zh-CN" altLang="en-US" sz="5400" dirty="0" smtClean="0"/>
              <a:t>古希腊人的宇宙观</a:t>
            </a:r>
            <a:endParaRPr lang="zh-CN" altLang="en-US" sz="5400" dirty="0"/>
          </a:p>
        </p:txBody>
      </p:sp>
    </p:spTree>
    <p:extLst>
      <p:ext uri="{BB962C8B-B14F-4D97-AF65-F5344CB8AC3E}">
        <p14:creationId xmlns:p14="http://schemas.microsoft.com/office/powerpoint/2010/main" val="2095841064"/>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矩形 3"/>
          <p:cNvSpPr/>
          <p:nvPr/>
        </p:nvSpPr>
        <p:spPr>
          <a:xfrm>
            <a:off x="2774306" y="2691465"/>
            <a:ext cx="6417142" cy="923330"/>
          </a:xfrm>
          <a:prstGeom prst="rect">
            <a:avLst/>
          </a:prstGeom>
          <a:noFill/>
        </p:spPr>
        <p:txBody>
          <a:bodyPr wrap="none" lIns="91440" tIns="45720" rIns="91440" bIns="45720">
            <a:spAutoFit/>
          </a:bodyPr>
          <a:lstStyle/>
          <a:p>
            <a:pPr algn="ctr"/>
            <a:r>
              <a:rPr lang="zh-CN" altLang="en-US" sz="5400" b="1" dirty="0">
                <a:ln w="22225">
                  <a:solidFill>
                    <a:schemeClr val="accent2"/>
                  </a:solidFill>
                  <a:prstDash val="solid"/>
                </a:ln>
                <a:solidFill>
                  <a:schemeClr val="accent2">
                    <a:lumMod val="40000"/>
                    <a:lumOff val="60000"/>
                  </a:schemeClr>
                </a:solidFill>
              </a:rPr>
              <a:t>故事要从一个人说起</a:t>
            </a:r>
          </a:p>
        </p:txBody>
      </p:sp>
    </p:spTree>
    <p:extLst>
      <p:ext uri="{BB962C8B-B14F-4D97-AF65-F5344CB8AC3E}">
        <p14:creationId xmlns:p14="http://schemas.microsoft.com/office/powerpoint/2010/main" val="2960026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泰勒斯（约</a:t>
            </a:r>
            <a:r>
              <a:rPr lang="en-US" altLang="zh-CN" dirty="0"/>
              <a:t>624 BC </a:t>
            </a:r>
            <a:r>
              <a:rPr lang="en-US" altLang="zh-CN" dirty="0" smtClean="0"/>
              <a:t>-</a:t>
            </a:r>
            <a:r>
              <a:rPr lang="en-US" altLang="zh-CN" dirty="0"/>
              <a:t>546 BC </a:t>
            </a:r>
            <a:r>
              <a:rPr lang="zh-CN" altLang="en-US" dirty="0" smtClean="0"/>
              <a:t>）</a:t>
            </a:r>
            <a:endParaRPr lang="zh-CN" altLang="en-US" dirty="0"/>
          </a:p>
        </p:txBody>
      </p:sp>
      <p:sp>
        <p:nvSpPr>
          <p:cNvPr id="3" name="内容占位符 2"/>
          <p:cNvSpPr>
            <a:spLocks noGrp="1"/>
          </p:cNvSpPr>
          <p:nvPr>
            <p:ph idx="1"/>
          </p:nvPr>
        </p:nvSpPr>
        <p:spPr>
          <a:xfrm>
            <a:off x="838200" y="1825625"/>
            <a:ext cx="5637551" cy="4351338"/>
          </a:xfrm>
        </p:spPr>
        <p:txBody>
          <a:bodyPr>
            <a:normAutofit fontScale="92500" lnSpcReduction="10000"/>
          </a:bodyPr>
          <a:lstStyle/>
          <a:p>
            <a:r>
              <a:rPr lang="zh-CN" altLang="en-US" dirty="0"/>
              <a:t>公元前</a:t>
            </a:r>
            <a:r>
              <a:rPr lang="en-US" altLang="zh-CN" dirty="0"/>
              <a:t>7</a:t>
            </a:r>
            <a:r>
              <a:rPr lang="zh-CN" altLang="en-US" dirty="0"/>
              <a:t>至</a:t>
            </a:r>
            <a:r>
              <a:rPr lang="en-US" altLang="zh-CN" dirty="0"/>
              <a:t>6</a:t>
            </a:r>
            <a:r>
              <a:rPr lang="zh-CN" altLang="en-US" dirty="0"/>
              <a:t>世纪的古希腊时期的思想家、科学家、哲学家，希腊最早的哲学学派</a:t>
            </a:r>
            <a:r>
              <a:rPr lang="en-US" altLang="zh-CN" dirty="0"/>
              <a:t>--</a:t>
            </a:r>
            <a:r>
              <a:rPr lang="zh-CN" altLang="en-US" dirty="0"/>
              <a:t>米利都学派</a:t>
            </a:r>
            <a:r>
              <a:rPr lang="en-US" altLang="zh-CN" dirty="0"/>
              <a:t>(</a:t>
            </a:r>
            <a:r>
              <a:rPr lang="zh-CN" altLang="en-US" dirty="0"/>
              <a:t>也称爱奥尼亚学派</a:t>
            </a:r>
            <a:r>
              <a:rPr lang="en-US" altLang="zh-CN" dirty="0"/>
              <a:t>)</a:t>
            </a:r>
            <a:r>
              <a:rPr lang="zh-CN" altLang="en-US" dirty="0"/>
              <a:t>的创始人。希腊七贤之首，西方思想史上第一个有记载有名字留下来的思想家，被称为</a:t>
            </a:r>
            <a:r>
              <a:rPr lang="en-US" altLang="zh-CN" dirty="0"/>
              <a:t>"</a:t>
            </a:r>
            <a:r>
              <a:rPr lang="zh-CN" altLang="en-US" dirty="0"/>
              <a:t>科学和哲学之</a:t>
            </a:r>
            <a:r>
              <a:rPr lang="zh-CN" altLang="en-US" dirty="0" smtClean="0"/>
              <a:t>祖</a:t>
            </a:r>
            <a:r>
              <a:rPr lang="en-US" altLang="zh-CN" dirty="0" smtClean="0"/>
              <a:t>“</a:t>
            </a:r>
          </a:p>
          <a:p>
            <a:r>
              <a:rPr lang="zh-CN" altLang="en-US" dirty="0"/>
              <a:t>他是第一个提出</a:t>
            </a:r>
            <a:r>
              <a:rPr lang="en-US" altLang="zh-CN" dirty="0"/>
              <a:t>"</a:t>
            </a:r>
            <a:r>
              <a:rPr lang="zh-CN" altLang="en-US" dirty="0"/>
              <a:t>世界的本原是什么</a:t>
            </a:r>
            <a:r>
              <a:rPr lang="en-US" altLang="zh-CN" dirty="0"/>
              <a:t>?"</a:t>
            </a:r>
            <a:r>
              <a:rPr lang="zh-CN" altLang="en-US" dirty="0"/>
              <a:t>并开启了哲学史的</a:t>
            </a:r>
            <a:r>
              <a:rPr lang="en-US" altLang="zh-CN" dirty="0"/>
              <a:t>"</a:t>
            </a:r>
            <a:r>
              <a:rPr lang="zh-CN" altLang="en-US" dirty="0"/>
              <a:t>本体论转向</a:t>
            </a:r>
            <a:r>
              <a:rPr lang="en-US" altLang="zh-CN" dirty="0"/>
              <a:t>"</a:t>
            </a:r>
            <a:r>
              <a:rPr lang="zh-CN" altLang="en-US" dirty="0"/>
              <a:t>的哲学家，被后人称为</a:t>
            </a:r>
            <a:r>
              <a:rPr lang="en-US" altLang="zh-CN" dirty="0"/>
              <a:t>"</a:t>
            </a:r>
            <a:r>
              <a:rPr lang="zh-CN" altLang="en-US" dirty="0"/>
              <a:t>希腊七贤之一</a:t>
            </a:r>
            <a:r>
              <a:rPr lang="en-US" altLang="zh-CN" dirty="0"/>
              <a:t>"</a:t>
            </a:r>
            <a:r>
              <a:rPr lang="zh-CN" altLang="en-US" dirty="0"/>
              <a:t>和</a:t>
            </a:r>
            <a:r>
              <a:rPr lang="en-US" altLang="zh-CN" dirty="0"/>
              <a:t>"</a:t>
            </a:r>
            <a:r>
              <a:rPr lang="zh-CN" altLang="en-US" dirty="0"/>
              <a:t>哲学和科学的始祖</a:t>
            </a:r>
            <a:r>
              <a:rPr lang="en-US" altLang="zh-CN" dirty="0"/>
              <a:t>"</a:t>
            </a:r>
            <a:r>
              <a:rPr lang="zh-CN" altLang="en-US" dirty="0"/>
              <a:t>，是学界公认的</a:t>
            </a:r>
            <a:r>
              <a:rPr lang="en-US" altLang="zh-CN" dirty="0"/>
              <a:t>"</a:t>
            </a:r>
            <a:r>
              <a:rPr lang="zh-CN" altLang="en-US" dirty="0"/>
              <a:t>哲学史第一人</a:t>
            </a:r>
            <a:r>
              <a:rPr lang="en-US" altLang="zh-CN" dirty="0"/>
              <a:t>"</a:t>
            </a:r>
            <a:r>
              <a:rPr lang="zh-CN" altLang="en-US" dirty="0"/>
              <a:t>。</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272" y="1363610"/>
            <a:ext cx="3490860" cy="5275367"/>
          </a:xfrm>
          <a:prstGeom prst="rect">
            <a:avLst/>
          </a:prstGeom>
        </p:spPr>
      </p:pic>
    </p:spTree>
    <p:extLst>
      <p:ext uri="{BB962C8B-B14F-4D97-AF65-F5344CB8AC3E}">
        <p14:creationId xmlns:p14="http://schemas.microsoft.com/office/powerpoint/2010/main" val="14195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9548" y="828899"/>
            <a:ext cx="9691312" cy="5527077"/>
          </a:xfrm>
        </p:spPr>
      </p:pic>
    </p:spTree>
    <p:extLst>
      <p:ext uri="{BB962C8B-B14F-4D97-AF65-F5344CB8AC3E}">
        <p14:creationId xmlns:p14="http://schemas.microsoft.com/office/powerpoint/2010/main" val="20750986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泰勒斯在天文学上的贡献</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dirty="0"/>
              <a:t>在天文学方面，泰勒斯作了很多</a:t>
            </a:r>
            <a:r>
              <a:rPr lang="zh-CN" altLang="en-US" dirty="0" smtClean="0"/>
              <a:t>研究</a:t>
            </a:r>
            <a:endParaRPr lang="en-US" altLang="zh-CN" dirty="0" smtClean="0"/>
          </a:p>
          <a:p>
            <a:r>
              <a:rPr lang="zh-CN" altLang="en-US" dirty="0" smtClean="0"/>
              <a:t>他</a:t>
            </a:r>
            <a:r>
              <a:rPr lang="zh-CN" altLang="en-US" dirty="0"/>
              <a:t>对太阳的直径进行了测量和</a:t>
            </a:r>
            <a:r>
              <a:rPr lang="zh-CN" altLang="en-US" dirty="0" smtClean="0"/>
              <a:t>计算，结果</a:t>
            </a:r>
            <a:r>
              <a:rPr lang="zh-CN" altLang="en-US" dirty="0"/>
              <a:t>他宣</a:t>
            </a:r>
            <a:r>
              <a:rPr lang="zh-CN" altLang="en-US" dirty="0" smtClean="0"/>
              <a:t>布</a:t>
            </a:r>
            <a:r>
              <a:rPr lang="zh-CN" altLang="en-US" dirty="0"/>
              <a:t>太阳的直径约为日道的七百二十分之一。这个数字与当今所测得的太阳直径相差很小</a:t>
            </a:r>
            <a:r>
              <a:rPr lang="zh-CN" altLang="en-US" dirty="0" smtClean="0"/>
              <a:t>。</a:t>
            </a:r>
            <a:endParaRPr lang="en-US" altLang="zh-CN" dirty="0" smtClean="0"/>
          </a:p>
          <a:p>
            <a:r>
              <a:rPr lang="zh-CN" altLang="en-US" dirty="0" smtClean="0"/>
              <a:t>他</a:t>
            </a:r>
            <a:r>
              <a:rPr lang="zh-CN" altLang="en-US" dirty="0"/>
              <a:t>在计算后得知，按照小熊星航行比按大熊星航行要准确得多，他把这一发现告诉了那些航海的人</a:t>
            </a:r>
            <a:r>
              <a:rPr lang="zh-CN" altLang="en-US" dirty="0" smtClean="0"/>
              <a:t>。</a:t>
            </a:r>
            <a:endParaRPr lang="en-US" altLang="zh-CN" dirty="0" smtClean="0"/>
          </a:p>
          <a:p>
            <a:r>
              <a:rPr lang="zh-CN" altLang="en-US" dirty="0" smtClean="0"/>
              <a:t>通过</a:t>
            </a:r>
            <a:r>
              <a:rPr lang="zh-CN" altLang="en-US" dirty="0"/>
              <a:t>对日月星辰的观察和研究，他确定了三百六十五天为一年，在当时没有任何天文观察设备的情况下，作出这样的发现是很了不起</a:t>
            </a:r>
            <a:r>
              <a:rPr lang="zh-CN" altLang="en-US" dirty="0" smtClean="0"/>
              <a:t>的</a:t>
            </a:r>
            <a:endParaRPr lang="en-US" altLang="zh-CN" dirty="0" smtClean="0"/>
          </a:p>
          <a:p>
            <a:r>
              <a:rPr lang="zh-CN" altLang="en-US" dirty="0"/>
              <a:t>他</a:t>
            </a:r>
            <a:r>
              <a:rPr lang="zh-CN" altLang="en-US" dirty="0" smtClean="0"/>
              <a:t>还预报了日食，是第一个有记载的预报日食的人</a:t>
            </a:r>
            <a:endParaRPr lang="zh-CN" altLang="en-US" dirty="0"/>
          </a:p>
        </p:txBody>
      </p:sp>
    </p:spTree>
    <p:extLst>
      <p:ext uri="{BB962C8B-B14F-4D97-AF65-F5344CB8AC3E}">
        <p14:creationId xmlns:p14="http://schemas.microsoft.com/office/powerpoint/2010/main" val="16526043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在哲学方面，泰勒斯拒绝倚赖玄异或超自然因素来解释自然现象，试图借助经验观察和理性思维来解释世界。他提出了</a:t>
            </a:r>
            <a:r>
              <a:rPr lang="zh-CN" altLang="en-US" dirty="0">
                <a:solidFill>
                  <a:srgbClr val="FF0000"/>
                </a:solidFill>
              </a:rPr>
              <a:t>水本原说</a:t>
            </a:r>
            <a:r>
              <a:rPr lang="zh-CN" altLang="en-US" dirty="0"/>
              <a:t>，即</a:t>
            </a:r>
            <a:r>
              <a:rPr lang="en-US" altLang="zh-CN" dirty="0"/>
              <a:t>"</a:t>
            </a:r>
            <a:r>
              <a:rPr lang="zh-CN" altLang="en-US" dirty="0"/>
              <a:t>万物源于水</a:t>
            </a:r>
            <a:r>
              <a:rPr lang="en-US" altLang="zh-CN" dirty="0"/>
              <a:t>"</a:t>
            </a:r>
            <a:r>
              <a:rPr lang="zh-CN" altLang="en-US" dirty="0"/>
              <a:t>，是古希腊第一个提出</a:t>
            </a:r>
            <a:r>
              <a:rPr lang="en-US" altLang="zh-CN" dirty="0"/>
              <a:t>"</a:t>
            </a:r>
            <a:r>
              <a:rPr lang="zh-CN" altLang="en-US" dirty="0"/>
              <a:t>什么是万物本原</a:t>
            </a:r>
            <a:r>
              <a:rPr lang="en-US" altLang="zh-CN" dirty="0"/>
              <a:t>"</a:t>
            </a:r>
            <a:r>
              <a:rPr lang="zh-CN" altLang="en-US" dirty="0"/>
              <a:t>这个哲学问题的人。并被称为</a:t>
            </a:r>
            <a:r>
              <a:rPr lang="en-US" altLang="zh-CN" dirty="0"/>
              <a:t>"</a:t>
            </a:r>
            <a:r>
              <a:rPr lang="zh-CN" altLang="en-US" dirty="0"/>
              <a:t>哲学史上第一</a:t>
            </a:r>
            <a:r>
              <a:rPr lang="zh-CN" altLang="en-US" dirty="0" smtClean="0"/>
              <a:t>人</a:t>
            </a:r>
            <a:r>
              <a:rPr lang="en-US" altLang="zh-CN" dirty="0" smtClean="0"/>
              <a:t>“</a:t>
            </a:r>
          </a:p>
          <a:p>
            <a:r>
              <a:rPr lang="zh-CN" altLang="en-US" dirty="0" smtClean="0"/>
              <a:t>在回到希腊后，建立了</a:t>
            </a:r>
            <a:r>
              <a:rPr lang="zh-CN" altLang="en-US" dirty="0"/>
              <a:t>米利都学派</a:t>
            </a:r>
          </a:p>
        </p:txBody>
      </p:sp>
    </p:spTree>
    <p:extLst>
      <p:ext uri="{BB962C8B-B14F-4D97-AF65-F5344CB8AC3E}">
        <p14:creationId xmlns:p14="http://schemas.microsoft.com/office/powerpoint/2010/main" val="20445863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7906" y="365125"/>
            <a:ext cx="11349318" cy="1325563"/>
          </a:xfrm>
        </p:spPr>
        <p:txBody>
          <a:bodyPr/>
          <a:lstStyle/>
          <a:p>
            <a:r>
              <a:rPr lang="zh-CN" altLang="en-US" dirty="0" smtClean="0"/>
              <a:t>阿那克西曼德（</a:t>
            </a:r>
            <a:r>
              <a:rPr lang="en-US" altLang="zh-CN" dirty="0"/>
              <a:t> Anaximander ,</a:t>
            </a:r>
            <a:r>
              <a:rPr lang="en-US" altLang="zh-CN" dirty="0" smtClean="0"/>
              <a:t>610 BC—</a:t>
            </a:r>
            <a:r>
              <a:rPr lang="en-US" altLang="zh-CN" dirty="0"/>
              <a:t>545 BC </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认识到天体都围绕着北极星运转</a:t>
            </a:r>
            <a:endParaRPr lang="en-US" altLang="zh-CN" dirty="0" smtClean="0"/>
          </a:p>
          <a:p>
            <a:r>
              <a:rPr lang="zh-CN" altLang="en-US" dirty="0" smtClean="0"/>
              <a:t>认为宇宙是对称的，</a:t>
            </a:r>
            <a:r>
              <a:rPr lang="zh-CN" altLang="en-US" dirty="0"/>
              <a:t>将天空绘成一完整球体，而不是仅仅在大地上方的一个半球</a:t>
            </a:r>
            <a:r>
              <a:rPr lang="zh-CN" altLang="en-US" dirty="0" smtClean="0"/>
              <a:t>拱形</a:t>
            </a:r>
            <a:endParaRPr lang="en-US" altLang="zh-CN" dirty="0" smtClean="0"/>
          </a:p>
          <a:p>
            <a:r>
              <a:rPr lang="zh-CN" altLang="en-US" dirty="0" smtClean="0"/>
              <a:t>通过不同地区星星位置的变化，认识</a:t>
            </a:r>
            <a:r>
              <a:rPr lang="zh-CN" altLang="en-US" dirty="0"/>
              <a:t>到大地表面必然呈曲线</a:t>
            </a:r>
            <a:r>
              <a:rPr lang="zh-CN" altLang="en-US" dirty="0" smtClean="0"/>
              <a:t>形</a:t>
            </a:r>
            <a:endParaRPr lang="en-US" altLang="zh-CN" dirty="0" smtClean="0"/>
          </a:p>
        </p:txBody>
      </p:sp>
    </p:spTree>
    <p:extLst>
      <p:ext uri="{BB962C8B-B14F-4D97-AF65-F5344CB8AC3E}">
        <p14:creationId xmlns:p14="http://schemas.microsoft.com/office/powerpoint/2010/main" val="21462225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毕达哥拉斯（</a:t>
            </a:r>
            <a:r>
              <a:rPr lang="en-US" altLang="zh-CN" dirty="0"/>
              <a:t>580 BC </a:t>
            </a:r>
            <a:r>
              <a:rPr lang="en-US" altLang="zh-CN" dirty="0" smtClean="0"/>
              <a:t>-</a:t>
            </a:r>
            <a:r>
              <a:rPr lang="en-US" altLang="zh-CN" dirty="0"/>
              <a:t>500 BC </a:t>
            </a:r>
            <a:r>
              <a:rPr lang="zh-CN" altLang="en-US" dirty="0" smtClean="0"/>
              <a:t>）</a:t>
            </a:r>
            <a:endParaRPr lang="zh-CN" altLang="en-US" dirty="0"/>
          </a:p>
        </p:txBody>
      </p:sp>
      <p:sp>
        <p:nvSpPr>
          <p:cNvPr id="3" name="内容占位符 2"/>
          <p:cNvSpPr>
            <a:spLocks noGrp="1"/>
          </p:cNvSpPr>
          <p:nvPr>
            <p:ph idx="1"/>
          </p:nvPr>
        </p:nvSpPr>
        <p:spPr>
          <a:xfrm>
            <a:off x="838200" y="1825625"/>
            <a:ext cx="6363878" cy="4351338"/>
          </a:xfrm>
        </p:spPr>
        <p:txBody>
          <a:bodyPr>
            <a:normAutofit lnSpcReduction="10000"/>
          </a:bodyPr>
          <a:lstStyle/>
          <a:p>
            <a:r>
              <a:rPr lang="zh-CN" altLang="en-US" dirty="0" smtClean="0"/>
              <a:t>他认为地球是球形（单纯从数学美方面）</a:t>
            </a:r>
            <a:endParaRPr lang="en-US" altLang="zh-CN" dirty="0" smtClean="0"/>
          </a:p>
          <a:p>
            <a:r>
              <a:rPr lang="zh-CN" altLang="en-US" dirty="0" smtClean="0"/>
              <a:t>火是最圣洁的东西，在宇宙中心有一团火，他称为中心火。</a:t>
            </a:r>
            <a:endParaRPr lang="en-US" altLang="zh-CN" dirty="0" smtClean="0"/>
          </a:p>
          <a:p>
            <a:r>
              <a:rPr lang="zh-CN" altLang="en-US" dirty="0" smtClean="0"/>
              <a:t>太阳、月亮、地球、月亮、行星及恒星都镶在不同的天球上，围绕中心火运动。</a:t>
            </a:r>
            <a:endParaRPr lang="en-US" altLang="zh-CN" dirty="0" smtClean="0"/>
          </a:p>
          <a:p>
            <a:r>
              <a:rPr lang="zh-CN" altLang="en-US" dirty="0" smtClean="0"/>
              <a:t>添加了一个对地（还是单纯的因为数学美）</a:t>
            </a:r>
            <a:endParaRPr lang="en-US" altLang="zh-CN" dirty="0" smtClean="0"/>
          </a:p>
          <a:p>
            <a:r>
              <a:rPr lang="zh-CN" altLang="en-US" dirty="0" smtClean="0"/>
              <a:t>认为人都在地球的一侧</a:t>
            </a:r>
            <a:endParaRPr lang="zh-CN" altLang="en-US" dirty="0"/>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b="9466"/>
          <a:stretch/>
        </p:blipFill>
        <p:spPr>
          <a:xfrm rot="16200000">
            <a:off x="7341312" y="1468413"/>
            <a:ext cx="3869328" cy="4147796"/>
          </a:xfrm>
          <a:prstGeom prst="rect">
            <a:avLst/>
          </a:prstGeom>
        </p:spPr>
      </p:pic>
    </p:spTree>
    <p:extLst>
      <p:ext uri="{BB962C8B-B14F-4D97-AF65-F5344CB8AC3E}">
        <p14:creationId xmlns:p14="http://schemas.microsoft.com/office/powerpoint/2010/main" val="22497274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7553" y="365125"/>
            <a:ext cx="11268635" cy="1325563"/>
          </a:xfrm>
        </p:spPr>
        <p:txBody>
          <a:bodyPr/>
          <a:lstStyle/>
          <a:p>
            <a:r>
              <a:rPr lang="zh-CN" altLang="en-US" dirty="0" smtClean="0"/>
              <a:t>欧多克斯（</a:t>
            </a:r>
            <a:r>
              <a:rPr lang="en-US" altLang="zh-CN" dirty="0"/>
              <a:t> </a:t>
            </a:r>
            <a:r>
              <a:rPr lang="en-US" altLang="zh-CN" dirty="0" err="1"/>
              <a:t>Eudoxus</a:t>
            </a:r>
            <a:r>
              <a:rPr lang="en-US" altLang="zh-CN" dirty="0"/>
              <a:t> of Cnidus </a:t>
            </a:r>
            <a:r>
              <a:rPr lang="en-US" altLang="zh-CN" dirty="0" smtClean="0"/>
              <a:t>,408 </a:t>
            </a:r>
            <a:r>
              <a:rPr lang="en-US" altLang="zh-CN" dirty="0"/>
              <a:t>BC - 355 </a:t>
            </a:r>
            <a:r>
              <a:rPr lang="en-US" altLang="zh-CN" dirty="0" smtClean="0"/>
              <a:t>BC</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第一个提出了地球是宇宙的中心</a:t>
            </a:r>
            <a:endParaRPr lang="en-US" altLang="zh-CN" dirty="0" smtClean="0"/>
          </a:p>
          <a:p>
            <a:r>
              <a:rPr lang="zh-CN" altLang="en-US" dirty="0" smtClean="0"/>
              <a:t>接受</a:t>
            </a:r>
            <a:r>
              <a:rPr lang="zh-CN" altLang="en-US" dirty="0"/>
              <a:t>了柏拉图关于行星必须在正圆轨道上运行的</a:t>
            </a:r>
            <a:r>
              <a:rPr lang="zh-CN" altLang="en-US" dirty="0" smtClean="0"/>
              <a:t>观点</a:t>
            </a:r>
            <a:endParaRPr lang="en-US" altLang="zh-CN" dirty="0" smtClean="0"/>
          </a:p>
          <a:p>
            <a:r>
              <a:rPr lang="zh-CN" altLang="en-US" dirty="0" smtClean="0"/>
              <a:t>通过观察，</a:t>
            </a:r>
            <a:r>
              <a:rPr lang="zh-CN" altLang="en-US" dirty="0"/>
              <a:t>他认为，行星同其所绕转动的中心球体组成的系统，同时绕着第三球体转动，而以此类推。</a:t>
            </a:r>
          </a:p>
        </p:txBody>
      </p:sp>
    </p:spTree>
    <p:extLst>
      <p:ext uri="{BB962C8B-B14F-4D97-AF65-F5344CB8AC3E}">
        <p14:creationId xmlns:p14="http://schemas.microsoft.com/office/powerpoint/2010/main" val="15376483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亚里士多德（</a:t>
            </a:r>
            <a:r>
              <a:rPr lang="en-US" altLang="zh-CN" dirty="0"/>
              <a:t>384 BC </a:t>
            </a:r>
            <a:r>
              <a:rPr lang="en-US" altLang="zh-CN" dirty="0" smtClean="0"/>
              <a:t>-</a:t>
            </a:r>
            <a:r>
              <a:rPr lang="en-US" altLang="zh-CN" dirty="0"/>
              <a:t>322 BC </a:t>
            </a:r>
            <a:r>
              <a:rPr lang="zh-CN" altLang="en-US" dirty="0" smtClean="0"/>
              <a:t>）</a:t>
            </a:r>
            <a:endParaRPr lang="zh-CN" altLang="en-US" dirty="0"/>
          </a:p>
        </p:txBody>
      </p:sp>
      <p:sp>
        <p:nvSpPr>
          <p:cNvPr id="3" name="内容占位符 2"/>
          <p:cNvSpPr>
            <a:spLocks noGrp="1"/>
          </p:cNvSpPr>
          <p:nvPr>
            <p:ph idx="1"/>
          </p:nvPr>
        </p:nvSpPr>
        <p:spPr>
          <a:xfrm>
            <a:off x="838200" y="1825625"/>
            <a:ext cx="7278278" cy="4351338"/>
          </a:xfrm>
        </p:spPr>
        <p:txBody>
          <a:bodyPr/>
          <a:lstStyle/>
          <a:p>
            <a:r>
              <a:rPr lang="zh-CN" altLang="en-US" dirty="0" smtClean="0"/>
              <a:t>强调观察</a:t>
            </a:r>
            <a:endParaRPr lang="en-US" altLang="zh-CN" dirty="0"/>
          </a:p>
          <a:p>
            <a:r>
              <a:rPr lang="zh-CN" altLang="en-US" dirty="0" smtClean="0"/>
              <a:t>认为地球是宇宙的中心</a:t>
            </a:r>
            <a:endParaRPr lang="en-US" altLang="zh-CN" dirty="0" smtClean="0"/>
          </a:p>
          <a:p>
            <a:r>
              <a:rPr lang="zh-CN" altLang="en-US" dirty="0" smtClean="0"/>
              <a:t>太阳、月亮、行星和恒星镶在各自的天球上。</a:t>
            </a:r>
            <a:endParaRPr lang="en-US" altLang="zh-CN" dirty="0" smtClean="0"/>
          </a:p>
          <a:p>
            <a:r>
              <a:rPr lang="zh-CN" altLang="en-US" dirty="0" smtClean="0"/>
              <a:t>在恒星天外，还有一个天，叫做原动天（水晶天），在这里有一个第一推动者。</a:t>
            </a:r>
            <a:endParaRPr lang="en-US" altLang="zh-CN" dirty="0" smtClean="0"/>
          </a:p>
          <a:p>
            <a:r>
              <a:rPr lang="zh-CN" altLang="en-US" dirty="0" smtClean="0"/>
              <a:t>宇宙分为月下世界和月上世界，月下世界由水气火土四种元素构成，月上世界由第五元素“以太”构成</a:t>
            </a:r>
            <a:endParaRPr lang="en-US" altLang="zh-CN" dirty="0" smtClean="0"/>
          </a:p>
          <a:p>
            <a:r>
              <a:rPr lang="zh-CN" altLang="en-US" dirty="0" smtClean="0"/>
              <a:t>用事实证明了地球是一个球形</a:t>
            </a:r>
            <a:endParaRPr lang="en-US" altLang="zh-CN"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6478" y="2178247"/>
            <a:ext cx="3940749" cy="4133653"/>
          </a:xfrm>
          <a:prstGeom prst="rect">
            <a:avLst/>
          </a:prstGeom>
        </p:spPr>
      </p:pic>
    </p:spTree>
    <p:extLst>
      <p:ext uri="{BB962C8B-B14F-4D97-AF65-F5344CB8AC3E}">
        <p14:creationId xmlns:p14="http://schemas.microsoft.com/office/powerpoint/2010/main" val="70560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阿里斯塔克（</a:t>
            </a:r>
            <a:r>
              <a:rPr lang="en-US" altLang="zh-CN" dirty="0"/>
              <a:t>310 BC </a:t>
            </a:r>
            <a:r>
              <a:rPr lang="en-US" altLang="zh-CN" dirty="0" smtClean="0"/>
              <a:t>--</a:t>
            </a:r>
            <a:r>
              <a:rPr lang="en-US" altLang="zh-CN" dirty="0"/>
              <a:t>230 BC </a:t>
            </a:r>
            <a:r>
              <a:rPr lang="zh-CN" altLang="en-US" dirty="0" smtClean="0"/>
              <a:t>）</a:t>
            </a:r>
            <a:endParaRPr lang="zh-CN" altLang="en-US" dirty="0"/>
          </a:p>
        </p:txBody>
      </p:sp>
      <p:sp>
        <p:nvSpPr>
          <p:cNvPr id="3" name="内容占位符 2"/>
          <p:cNvSpPr>
            <a:spLocks noGrp="1"/>
          </p:cNvSpPr>
          <p:nvPr>
            <p:ph sz="half" idx="1"/>
          </p:nvPr>
        </p:nvSpPr>
        <p:spPr>
          <a:xfrm>
            <a:off x="838200" y="1825625"/>
            <a:ext cx="4940431" cy="4351338"/>
          </a:xfrm>
        </p:spPr>
        <p:txBody>
          <a:bodyPr/>
          <a:lstStyle/>
          <a:p>
            <a:pPr marL="0" indent="0">
              <a:buNone/>
            </a:pPr>
            <a:r>
              <a:rPr lang="zh-CN" altLang="en-US" dirty="0" smtClean="0"/>
              <a:t>他被认为是古希腊时期最伟大的天文学家，是第一个提出日心说的人。</a:t>
            </a:r>
            <a:endParaRPr lang="en-US" altLang="zh-CN" dirty="0" smtClean="0"/>
          </a:p>
          <a:p>
            <a:pPr marL="0" indent="0">
              <a:buNone/>
            </a:pPr>
            <a:r>
              <a:rPr lang="zh-CN" altLang="en-US" dirty="0" smtClean="0"/>
              <a:t>他还推测出了月球的直径，算出了日地距离（但因为当时的观测数据不够精确，他的结论是错误的），指出太阳显然大于地球，并以此来验证日心说</a:t>
            </a:r>
            <a:endParaRPr lang="zh-CN" altLang="en-US" dirty="0"/>
          </a:p>
        </p:txBody>
      </p:sp>
      <p:sp>
        <p:nvSpPr>
          <p:cNvPr id="5" name="内容占位符 4"/>
          <p:cNvSpPr>
            <a:spLocks noGrp="1"/>
          </p:cNvSpPr>
          <p:nvPr>
            <p:ph sz="half" idx="2"/>
          </p:nvPr>
        </p:nvSpPr>
        <p:spPr/>
        <p:txBody>
          <a:bodyPr/>
          <a:lstStyle/>
          <a:p>
            <a:pPr marL="0" indent="0">
              <a:buNone/>
            </a:pPr>
            <a:r>
              <a:rPr lang="zh-CN" altLang="en-US" dirty="0"/>
              <a:t>主要思想： </a:t>
            </a:r>
            <a:endParaRPr lang="en-US" altLang="zh-CN" dirty="0"/>
          </a:p>
          <a:p>
            <a:r>
              <a:rPr lang="zh-CN" altLang="en-US" dirty="0"/>
              <a:t>太阳与固定的恒星不会运动。</a:t>
            </a:r>
            <a:endParaRPr lang="en-US" altLang="zh-CN" dirty="0"/>
          </a:p>
          <a:p>
            <a:r>
              <a:rPr lang="zh-CN" altLang="en-US" dirty="0"/>
              <a:t>地球绕太阳运行，轨道为圆形，太阳在圆心</a:t>
            </a:r>
            <a:endParaRPr lang="en-US" altLang="zh-CN" dirty="0"/>
          </a:p>
          <a:p>
            <a:r>
              <a:rPr lang="zh-CN" altLang="en-US" dirty="0"/>
              <a:t>固定的恒星距离太阳与地球极为遥远</a:t>
            </a:r>
            <a:endParaRPr lang="en-US" altLang="zh-CN" dirty="0"/>
          </a:p>
          <a:p>
            <a:endParaRPr lang="en-US" altLang="zh-CN" dirty="0"/>
          </a:p>
          <a:p>
            <a:pPr marL="0" indent="0">
              <a:buNone/>
            </a:pPr>
            <a:r>
              <a:rPr lang="zh-CN" altLang="en-US" dirty="0"/>
              <a:t>很遗憾的是，他的思想太超前了，并未被世人接受</a:t>
            </a:r>
          </a:p>
        </p:txBody>
      </p:sp>
    </p:spTree>
    <p:extLst>
      <p:ext uri="{BB962C8B-B14F-4D97-AF65-F5344CB8AC3E}">
        <p14:creationId xmlns:p14="http://schemas.microsoft.com/office/powerpoint/2010/main" val="10805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iterate type="lt">
                                    <p:tmPct val="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1" nodeType="clickEffect">
                                  <p:stCondLst>
                                    <p:cond delay="0"/>
                                  </p:stCondLst>
                                  <p:iterate type="lt">
                                    <p:tmPct val="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1000"/>
                                        <p:tgtEl>
                                          <p:spTgt spid="5">
                                            <p:txEl>
                                              <p:pRg st="1" end="1"/>
                                            </p:txEl>
                                          </p:spTgt>
                                        </p:tgtEl>
                                      </p:cBhvr>
                                    </p:animEffect>
                                    <p:anim calcmode="lin" valueType="num">
                                      <p:cBhvr>
                                        <p:cTn id="2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Effect transition="in" filter="fade">
                                      <p:cBhvr>
                                        <p:cTn id="31" dur="1000"/>
                                        <p:tgtEl>
                                          <p:spTgt spid="5">
                                            <p:txEl>
                                              <p:pRg st="2" end="2"/>
                                            </p:txEl>
                                          </p:spTgt>
                                        </p:tgtEl>
                                      </p:cBhvr>
                                    </p:animEffect>
                                    <p:anim calcmode="lin" valueType="num">
                                      <p:cBhvr>
                                        <p:cTn id="3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
                                            <p:txEl>
                                              <p:pRg st="3" end="3"/>
                                            </p:txEl>
                                          </p:spTgt>
                                        </p:tgtEl>
                                        <p:attrNameLst>
                                          <p:attrName>style.visibility</p:attrName>
                                        </p:attrNameLst>
                                      </p:cBhvr>
                                      <p:to>
                                        <p:strVal val="visible"/>
                                      </p:to>
                                    </p:set>
                                    <p:animEffect transition="in" filter="fade">
                                      <p:cBhvr>
                                        <p:cTn id="38" dur="1000"/>
                                        <p:tgtEl>
                                          <p:spTgt spid="5">
                                            <p:txEl>
                                              <p:pRg st="3" end="3"/>
                                            </p:txEl>
                                          </p:spTgt>
                                        </p:tgtEl>
                                      </p:cBhvr>
                                    </p:animEffect>
                                    <p:anim calcmode="lin" valueType="num">
                                      <p:cBhvr>
                                        <p:cTn id="3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5">
                                            <p:txEl>
                                              <p:pRg st="5" end="5"/>
                                            </p:txEl>
                                          </p:spTgt>
                                        </p:tgtEl>
                                        <p:attrNameLst>
                                          <p:attrName>style.visibility</p:attrName>
                                        </p:attrNameLst>
                                      </p:cBhvr>
                                      <p:to>
                                        <p:strVal val="visible"/>
                                      </p:to>
                                    </p:set>
                                    <p:anim calcmode="lin" valueType="num">
                                      <p:cBhvr>
                                        <p:cTn id="45"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希帕克斯（</a:t>
            </a:r>
            <a:r>
              <a:rPr lang="en-US" altLang="zh-CN" dirty="0" smtClean="0"/>
              <a:t>190BC – 125BC</a:t>
            </a:r>
            <a:r>
              <a:rPr lang="zh-CN" altLang="en-US" dirty="0" smtClean="0"/>
              <a:t>）</a:t>
            </a:r>
            <a:endParaRPr lang="zh-CN" altLang="en-US" dirty="0"/>
          </a:p>
        </p:txBody>
      </p:sp>
      <p:sp>
        <p:nvSpPr>
          <p:cNvPr id="6" name="内容占位符 5"/>
          <p:cNvSpPr>
            <a:spLocks noGrp="1"/>
          </p:cNvSpPr>
          <p:nvPr>
            <p:ph sz="half" idx="1"/>
          </p:nvPr>
        </p:nvSpPr>
        <p:spPr/>
        <p:txBody>
          <a:bodyPr>
            <a:normAutofit/>
          </a:bodyPr>
          <a:lstStyle/>
          <a:p>
            <a:r>
              <a:rPr lang="zh-CN" altLang="en-US" dirty="0"/>
              <a:t>被称为</a:t>
            </a:r>
            <a:r>
              <a:rPr lang="zh-CN" altLang="en-US" dirty="0" smtClean="0"/>
              <a:t>“天文学之父”，创立</a:t>
            </a:r>
            <a:r>
              <a:rPr lang="zh-CN" altLang="en-US" dirty="0"/>
              <a:t>了球面三角这门数学工具，解决了前人欧多克斯发明的、被人用来“拯救”天文现象的同心球模型都无法解决的两个难题，使希腊天文学由定性的几何模型变成定量的数学描述，使宇宙模型真正有效而又准确地反映出天文观测的结果。</a:t>
            </a:r>
          </a:p>
        </p:txBody>
      </p:sp>
      <p:sp>
        <p:nvSpPr>
          <p:cNvPr id="7" name="内容占位符 6"/>
          <p:cNvSpPr>
            <a:spLocks noGrp="1"/>
          </p:cNvSpPr>
          <p:nvPr>
            <p:ph sz="half" idx="2"/>
          </p:nvPr>
        </p:nvSpPr>
        <p:spPr/>
        <p:txBody>
          <a:bodyPr>
            <a:normAutofit/>
          </a:bodyPr>
          <a:lstStyle/>
          <a:p>
            <a:r>
              <a:rPr lang="zh-CN" altLang="en-US" dirty="0"/>
              <a:t>他用一个固定的偏心轮解释太阳的表观</a:t>
            </a:r>
            <a:r>
              <a:rPr lang="zh-CN" altLang="en-US" dirty="0" smtClean="0"/>
              <a:t>运动</a:t>
            </a:r>
            <a:r>
              <a:rPr lang="zh-CN" altLang="en-US" dirty="0"/>
              <a:t>，</a:t>
            </a:r>
            <a:r>
              <a:rPr lang="zh-CN" altLang="en-US" dirty="0" smtClean="0"/>
              <a:t>用</a:t>
            </a:r>
            <a:r>
              <a:rPr lang="zh-CN" altLang="en-US" dirty="0"/>
              <a:t>一个移动的偏心轮解释月亮的表观</a:t>
            </a:r>
            <a:r>
              <a:rPr lang="zh-CN" altLang="en-US" dirty="0" smtClean="0"/>
              <a:t>运动</a:t>
            </a:r>
            <a:endParaRPr lang="en-US" altLang="zh-CN" dirty="0"/>
          </a:p>
          <a:p>
            <a:r>
              <a:rPr lang="zh-CN" altLang="en-US" dirty="0" smtClean="0"/>
              <a:t>行星</a:t>
            </a:r>
            <a:r>
              <a:rPr lang="zh-CN" altLang="en-US" dirty="0"/>
              <a:t>的运动则用一套本轮一均轮来解释</a:t>
            </a:r>
          </a:p>
        </p:txBody>
      </p:sp>
    </p:spTree>
    <p:extLst>
      <p:ext uri="{BB962C8B-B14F-4D97-AF65-F5344CB8AC3E}">
        <p14:creationId xmlns:p14="http://schemas.microsoft.com/office/powerpoint/2010/main" val="24301894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endParaRPr lang="zh-CN" altLang="en-US" dirty="0"/>
          </a:p>
        </p:txBody>
      </p:sp>
      <p:sp>
        <p:nvSpPr>
          <p:cNvPr id="3" name="内容占位符 2"/>
          <p:cNvSpPr>
            <a:spLocks noGrp="1"/>
          </p:cNvSpPr>
          <p:nvPr>
            <p:ph sz="half" idx="1"/>
          </p:nvPr>
        </p:nvSpPr>
        <p:spPr/>
        <p:txBody>
          <a:bodyPr>
            <a:normAutofit lnSpcReduction="10000"/>
          </a:bodyPr>
          <a:lstStyle/>
          <a:p>
            <a:r>
              <a:rPr lang="zh-CN" altLang="en-US" dirty="0" smtClean="0"/>
              <a:t>阿那克西曼德提出天球的概念</a:t>
            </a:r>
            <a:endParaRPr lang="en-US" altLang="zh-CN" dirty="0" smtClean="0"/>
          </a:p>
          <a:p>
            <a:endParaRPr lang="en-US" altLang="zh-CN" dirty="0" smtClean="0"/>
          </a:p>
          <a:p>
            <a:r>
              <a:rPr lang="zh-CN" altLang="en-US" dirty="0" smtClean="0"/>
              <a:t>欧多克斯提出了地心说，提出了一种类似本轮均轮的结构</a:t>
            </a:r>
            <a:endParaRPr lang="en-US" altLang="zh-CN" dirty="0" smtClean="0"/>
          </a:p>
          <a:p>
            <a:r>
              <a:rPr lang="zh-CN" altLang="en-US" dirty="0" smtClean="0"/>
              <a:t>亚里士多德完善了这套理论</a:t>
            </a:r>
            <a:endParaRPr lang="en-US" altLang="zh-CN" dirty="0" smtClean="0"/>
          </a:p>
          <a:p>
            <a:endParaRPr lang="en-US" altLang="zh-CN" dirty="0" smtClean="0"/>
          </a:p>
          <a:p>
            <a:r>
              <a:rPr lang="zh-CN" altLang="en-US" dirty="0" smtClean="0"/>
              <a:t>阿波罗尼阿斯</a:t>
            </a:r>
            <a:r>
              <a:rPr lang="zh-CN" altLang="en-US" dirty="0"/>
              <a:t>提出了“本轮</a:t>
            </a:r>
            <a:r>
              <a:rPr lang="en-US" altLang="zh-CN" dirty="0"/>
              <a:t>—</a:t>
            </a:r>
            <a:r>
              <a:rPr lang="zh-CN" altLang="en-US" dirty="0"/>
              <a:t>均轮”</a:t>
            </a:r>
            <a:r>
              <a:rPr lang="zh-CN" altLang="en-US" dirty="0" smtClean="0"/>
              <a:t>结构，放弃了实体天球</a:t>
            </a:r>
            <a:endParaRPr lang="en-US" altLang="zh-CN" dirty="0" smtClean="0"/>
          </a:p>
          <a:p>
            <a:r>
              <a:rPr lang="zh-CN" altLang="en-US" dirty="0" smtClean="0"/>
              <a:t>希帕克斯发展了这套理论，</a:t>
            </a:r>
            <a:r>
              <a:rPr lang="zh-CN" altLang="en-US" dirty="0"/>
              <a:t>模型与实际符合得较好</a:t>
            </a:r>
            <a:endParaRPr lang="en-US" altLang="zh-CN" dirty="0" smtClean="0"/>
          </a:p>
          <a:p>
            <a:endParaRPr lang="en-US" altLang="zh-CN" dirty="0" smtClean="0"/>
          </a:p>
          <a:p>
            <a:endParaRPr lang="en-US" altLang="zh-CN" dirty="0" smtClean="0"/>
          </a:p>
          <a:p>
            <a:endParaRPr lang="en-US" altLang="zh-CN" dirty="0" smtClean="0"/>
          </a:p>
          <a:p>
            <a:endParaRPr lang="zh-CN" altLang="en-US" dirty="0"/>
          </a:p>
        </p:txBody>
      </p:sp>
      <p:sp>
        <p:nvSpPr>
          <p:cNvPr id="4" name="内容占位符 3"/>
          <p:cNvSpPr>
            <a:spLocks noGrp="1"/>
          </p:cNvSpPr>
          <p:nvPr>
            <p:ph sz="half" idx="2"/>
          </p:nvPr>
        </p:nvSpPr>
        <p:spPr>
          <a:xfrm>
            <a:off x="6096000" y="2117856"/>
            <a:ext cx="5181600" cy="4351338"/>
          </a:xfrm>
        </p:spPr>
        <p:txBody>
          <a:bodyPr>
            <a:normAutofit lnSpcReduction="10000"/>
          </a:bodyPr>
          <a:lstStyle/>
          <a:p>
            <a:r>
              <a:rPr lang="zh-CN" altLang="en-US" dirty="0" smtClean="0"/>
              <a:t>毕达哥拉斯提出了中心火模型</a:t>
            </a:r>
            <a:endParaRPr lang="en-US" altLang="zh-CN" dirty="0" smtClean="0"/>
          </a:p>
          <a:p>
            <a:endParaRPr lang="en-US" altLang="zh-CN" dirty="0"/>
          </a:p>
          <a:p>
            <a:endParaRPr lang="en-US" altLang="zh-CN" dirty="0" smtClean="0"/>
          </a:p>
          <a:p>
            <a:endParaRPr lang="en-US" altLang="zh-CN" dirty="0" smtClean="0"/>
          </a:p>
          <a:p>
            <a:r>
              <a:rPr lang="zh-CN" altLang="en-US" dirty="0" smtClean="0"/>
              <a:t>阿里斯塔克提出了日心说，认为太阳</a:t>
            </a:r>
            <a:r>
              <a:rPr lang="zh-CN" altLang="en-US" dirty="0"/>
              <a:t>与固定的恒星不会</a:t>
            </a:r>
            <a:r>
              <a:rPr lang="zh-CN" altLang="en-US" dirty="0" smtClean="0"/>
              <a:t>运动而地球在围绕太阳做圆周运动</a:t>
            </a:r>
            <a:endParaRPr lang="en-US" altLang="zh-CN" dirty="0"/>
          </a:p>
          <a:p>
            <a:endParaRPr lang="zh-CN" altLang="en-US" dirty="0"/>
          </a:p>
        </p:txBody>
      </p:sp>
    </p:spTree>
    <p:extLst>
      <p:ext uri="{BB962C8B-B14F-4D97-AF65-F5344CB8AC3E}">
        <p14:creationId xmlns:p14="http://schemas.microsoft.com/office/powerpoint/2010/main" val="110968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anim calcmode="lin" valueType="num">
                                      <p:cBhvr additive="base">
                                        <p:cTn id="4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23672"/>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03  </a:t>
            </a:r>
            <a:r>
              <a:rPr lang="zh-CN" altLang="en-US" sz="5400" dirty="0" smtClean="0"/>
              <a:t>地心说下的宇宙观</a:t>
            </a:r>
            <a:endParaRPr lang="zh-CN" altLang="en-US" sz="5400" dirty="0"/>
          </a:p>
        </p:txBody>
      </p:sp>
    </p:spTree>
    <p:extLst>
      <p:ext uri="{BB962C8B-B14F-4D97-AF65-F5344CB8AC3E}">
        <p14:creationId xmlns:p14="http://schemas.microsoft.com/office/powerpoint/2010/main" val="4030327078"/>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38200" y="1825625"/>
            <a:ext cx="9598152" cy="4351338"/>
          </a:xfrm>
        </p:spPr>
        <p:txBody>
          <a:bodyPr/>
          <a:lstStyle/>
          <a:p>
            <a:pPr marL="0" indent="0">
              <a:buNone/>
            </a:pPr>
            <a:r>
              <a:rPr lang="zh-CN" altLang="en-US" dirty="0"/>
              <a:t>最初由米利都学派形成初步理念，后由古希腊学者欧多克斯提出，经亚里士多德完善，托勒密进一步发展成为“地心说”，这一学说能够较好地与实际符合</a:t>
            </a:r>
            <a:endParaRPr lang="en-US" altLang="zh-CN" dirty="0"/>
          </a:p>
          <a:p>
            <a:endParaRPr lang="zh-CN" altLang="en-US" dirty="0"/>
          </a:p>
        </p:txBody>
      </p:sp>
    </p:spTree>
    <p:extLst>
      <p:ext uri="{BB962C8B-B14F-4D97-AF65-F5344CB8AC3E}">
        <p14:creationId xmlns:p14="http://schemas.microsoft.com/office/powerpoint/2010/main" val="15359817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托勒密</a:t>
            </a:r>
            <a:r>
              <a:rPr lang="en-US" altLang="zh-CN" dirty="0" smtClean="0"/>
              <a:t>——</a:t>
            </a:r>
            <a:r>
              <a:rPr lang="zh-CN" altLang="en-US" dirty="0" smtClean="0"/>
              <a:t>地心说的集大成者</a:t>
            </a:r>
            <a:endParaRPr lang="zh-CN" altLang="en-US" dirty="0"/>
          </a:p>
        </p:txBody>
      </p:sp>
      <p:sp>
        <p:nvSpPr>
          <p:cNvPr id="3" name="内容占位符 2"/>
          <p:cNvSpPr>
            <a:spLocks noGrp="1"/>
          </p:cNvSpPr>
          <p:nvPr>
            <p:ph idx="1"/>
          </p:nvPr>
        </p:nvSpPr>
        <p:spPr/>
        <p:txBody>
          <a:bodyPr/>
          <a:lstStyle/>
          <a:p>
            <a:r>
              <a:rPr lang="zh-CN" altLang="en-US" dirty="0" smtClean="0"/>
              <a:t>托勒密是地心说的集大成者。</a:t>
            </a:r>
            <a:endParaRPr lang="en-US" altLang="zh-CN" dirty="0" smtClean="0"/>
          </a:p>
          <a:p>
            <a:r>
              <a:rPr lang="zh-CN" altLang="en-US" dirty="0"/>
              <a:t>托勒密总结了希腊古天文学的成就，写成</a:t>
            </a:r>
            <a:r>
              <a:rPr lang="en-US" altLang="zh-CN" dirty="0"/>
              <a:t>《</a:t>
            </a:r>
            <a:r>
              <a:rPr lang="zh-CN" altLang="en-US" dirty="0"/>
              <a:t>天文学大成</a:t>
            </a:r>
            <a:r>
              <a:rPr lang="en-US" altLang="zh-CN" dirty="0"/>
              <a:t>》</a:t>
            </a:r>
            <a:r>
              <a:rPr lang="zh-CN" altLang="en-US" dirty="0"/>
              <a:t>十三</a:t>
            </a:r>
            <a:r>
              <a:rPr lang="zh-CN" altLang="en-US" dirty="0" smtClean="0"/>
              <a:t>卷。他利用</a:t>
            </a:r>
            <a:r>
              <a:rPr lang="zh-CN" altLang="en-US" dirty="0"/>
              <a:t>希腊天文学家们特别是喜帕恰斯的大量观测与研究成果，把各种用偏心圆或小轮体系解释天体运动的地心学说给以系统化的论证，后世遂把这种地心体系冠以他的名字，称为托勒密</a:t>
            </a:r>
            <a:r>
              <a:rPr lang="zh-CN" altLang="en-US" dirty="0" smtClean="0"/>
              <a:t>地心体系</a:t>
            </a:r>
            <a:endParaRPr lang="en-US" altLang="zh-CN" dirty="0" smtClean="0"/>
          </a:p>
          <a:p>
            <a:pPr marL="0" indent="0">
              <a:buNone/>
            </a:pPr>
            <a:endParaRPr lang="zh-CN" altLang="en-US" dirty="0"/>
          </a:p>
        </p:txBody>
      </p:sp>
    </p:spTree>
    <p:extLst>
      <p:ext uri="{BB962C8B-B14F-4D97-AF65-F5344CB8AC3E}">
        <p14:creationId xmlns:p14="http://schemas.microsoft.com/office/powerpoint/2010/main" val="26358179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a:t>“</a:t>
            </a:r>
            <a:r>
              <a:rPr lang="en-US" altLang="zh-CN" dirty="0"/>
              <a:t>……</a:t>
            </a:r>
            <a:r>
              <a:rPr lang="zh-CN" altLang="en-US" dirty="0"/>
              <a:t>天宇是球形的并且作球体运动，大地就形状来说，显然是球状的</a:t>
            </a:r>
            <a:r>
              <a:rPr lang="en-US" altLang="zh-CN" dirty="0"/>
              <a:t>……;</a:t>
            </a:r>
            <a:r>
              <a:rPr lang="zh-CN" altLang="en-US" dirty="0"/>
              <a:t>就位置来说，它恰在天宇的中央，像几何中心一样，就大小和距离来说，</a:t>
            </a:r>
            <a:r>
              <a:rPr lang="en-US" altLang="zh-CN" dirty="0"/>
              <a:t>[</a:t>
            </a:r>
            <a:r>
              <a:rPr lang="zh-CN" altLang="en-US" dirty="0"/>
              <a:t>大地</a:t>
            </a:r>
            <a:r>
              <a:rPr lang="en-US" altLang="zh-CN" dirty="0"/>
              <a:t>]</a:t>
            </a:r>
            <a:r>
              <a:rPr lang="zh-CN" altLang="en-US" dirty="0"/>
              <a:t>与恒星比较就是一个点，它本身完全没有运动。</a:t>
            </a:r>
            <a:r>
              <a:rPr lang="zh-CN" altLang="en-US" dirty="0" smtClean="0"/>
              <a:t>”        </a:t>
            </a:r>
            <a:r>
              <a:rPr lang="en-US" altLang="zh-CN" dirty="0" smtClean="0"/>
              <a:t>——《</a:t>
            </a:r>
            <a:r>
              <a:rPr lang="zh-CN" altLang="en-US" dirty="0" smtClean="0"/>
              <a:t>天文学大成</a:t>
            </a:r>
            <a:r>
              <a:rPr lang="en-US" altLang="zh-CN" dirty="0" smtClean="0"/>
              <a:t>》</a:t>
            </a:r>
            <a:endParaRPr lang="zh-CN" altLang="en-US" dirty="0"/>
          </a:p>
        </p:txBody>
      </p:sp>
    </p:spTree>
    <p:extLst>
      <p:ext uri="{BB962C8B-B14F-4D97-AF65-F5344CB8AC3E}">
        <p14:creationId xmlns:p14="http://schemas.microsoft.com/office/powerpoint/2010/main" val="9929315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zh-CN" altLang="en-US" sz="3600" dirty="0"/>
              <a:t>托勒密或许想不到，他的“地心说”凭借宗教势力竟统治了近</a:t>
            </a:r>
            <a:r>
              <a:rPr lang="en-US" altLang="zh-CN" sz="3600" dirty="0"/>
              <a:t>1500</a:t>
            </a:r>
            <a:r>
              <a:rPr lang="zh-CN" altLang="en-US" sz="3600" dirty="0"/>
              <a:t>年之</a:t>
            </a:r>
            <a:r>
              <a:rPr lang="zh-CN" altLang="en-US" sz="3600" dirty="0" smtClean="0"/>
              <a:t>久！</a:t>
            </a:r>
            <a:endParaRPr lang="zh-CN" altLang="en-US" sz="36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23859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
                                            <p:txEl>
                                              <p:pRg st="0" end="0"/>
                                            </p:txEl>
                                          </p:spTgt>
                                        </p:tgtEl>
                                        <p:attrNameLst>
                                          <p:attrName>r</p:attrName>
                                        </p:attrNameLst>
                                      </p:cBhvr>
                                    </p:animRot>
                                    <p:animRot by="-240000">
                                      <p:cBhvr>
                                        <p:cTn id="7" dur="200" fill="hold">
                                          <p:stCondLst>
                                            <p:cond delay="200"/>
                                          </p:stCondLst>
                                        </p:cTn>
                                        <p:tgtEl>
                                          <p:spTgt spid="3">
                                            <p:txEl>
                                              <p:pRg st="0" end="0"/>
                                            </p:txEl>
                                          </p:spTgt>
                                        </p:tgtEl>
                                        <p:attrNameLst>
                                          <p:attrName>r</p:attrName>
                                        </p:attrNameLst>
                                      </p:cBhvr>
                                    </p:animRot>
                                    <p:animRot by="240000">
                                      <p:cBhvr>
                                        <p:cTn id="8" dur="200" fill="hold">
                                          <p:stCondLst>
                                            <p:cond delay="400"/>
                                          </p:stCondLst>
                                        </p:cTn>
                                        <p:tgtEl>
                                          <p:spTgt spid="3">
                                            <p:txEl>
                                              <p:pRg st="0" end="0"/>
                                            </p:txEl>
                                          </p:spTgt>
                                        </p:tgtEl>
                                        <p:attrNameLst>
                                          <p:attrName>r</p:attrName>
                                        </p:attrNameLst>
                                      </p:cBhvr>
                                    </p:animRot>
                                    <p:animRot by="-240000">
                                      <p:cBhvr>
                                        <p:cTn id="9" dur="200" fill="hold">
                                          <p:stCondLst>
                                            <p:cond delay="600"/>
                                          </p:stCondLst>
                                        </p:cTn>
                                        <p:tgtEl>
                                          <p:spTgt spid="3">
                                            <p:txEl>
                                              <p:pRg st="0" end="0"/>
                                            </p:txEl>
                                          </p:spTgt>
                                        </p:tgtEl>
                                        <p:attrNameLst>
                                          <p:attrName>r</p:attrName>
                                        </p:attrNameLst>
                                      </p:cBhvr>
                                    </p:animRot>
                                    <p:animRot by="120000">
                                      <p:cBhvr>
                                        <p:cTn id="10" dur="200" fill="hold">
                                          <p:stCondLst>
                                            <p:cond delay="800"/>
                                          </p:stCondLst>
                                        </p:cTn>
                                        <p:tgtEl>
                                          <p:spTgt spid="3">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但是</a:t>
            </a:r>
            <a:r>
              <a:rPr lang="zh-CN" altLang="en-US" dirty="0"/>
              <a:t>，到了中世纪后期，随着观测仪器的不断改进，行星的位置和运动测量越来越精确，观测到的行星实际位置同这个模型的计算结果的偏差，就逐渐显露</a:t>
            </a:r>
            <a:r>
              <a:rPr lang="zh-CN" altLang="en-US" dirty="0" smtClean="0"/>
              <a:t>出来。</a:t>
            </a:r>
            <a:endParaRPr lang="en-US" altLang="zh-CN" dirty="0" smtClean="0"/>
          </a:p>
          <a:p>
            <a:r>
              <a:rPr lang="zh-CN" altLang="en-US" dirty="0" smtClean="0"/>
              <a:t>信奉</a:t>
            </a:r>
            <a:r>
              <a:rPr lang="zh-CN" altLang="en-US" dirty="0"/>
              <a:t>地心说的人们并没有认识到这是由于地心说本身的错误造成的，却用增加本轮的方法来补救地心说。起初这种办法还能勉强应付，后来小本轮增加到</a:t>
            </a:r>
            <a:r>
              <a:rPr lang="en-US" altLang="zh-CN" dirty="0"/>
              <a:t>80</a:t>
            </a:r>
            <a:r>
              <a:rPr lang="zh-CN" altLang="en-US" dirty="0"/>
              <a:t>多个，但仍不能满意地计算出行星的准确位置。</a:t>
            </a:r>
          </a:p>
        </p:txBody>
      </p:sp>
    </p:spTree>
    <p:extLst>
      <p:ext uri="{BB962C8B-B14F-4D97-AF65-F5344CB8AC3E}">
        <p14:creationId xmlns:p14="http://schemas.microsoft.com/office/powerpoint/2010/main" val="18887331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23672"/>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04  </a:t>
            </a:r>
            <a:r>
              <a:rPr lang="zh-CN" altLang="en-US" sz="5400" dirty="0" smtClean="0"/>
              <a:t>日心说下的宇宙观</a:t>
            </a:r>
            <a:endParaRPr lang="zh-CN" altLang="en-US" sz="5400" dirty="0"/>
          </a:p>
        </p:txBody>
      </p:sp>
    </p:spTree>
    <p:extLst>
      <p:ext uri="{BB962C8B-B14F-4D97-AF65-F5344CB8AC3E}">
        <p14:creationId xmlns:p14="http://schemas.microsoft.com/office/powerpoint/2010/main" val="1562595903"/>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达芬奇</a:t>
            </a:r>
            <a:r>
              <a:rPr lang="zh-CN" altLang="en-US" dirty="0"/>
              <a:t>（</a:t>
            </a:r>
            <a:r>
              <a:rPr lang="en-US" altLang="zh-CN" dirty="0"/>
              <a:t>Leonardo da Vinci,1452—1519</a:t>
            </a:r>
            <a:r>
              <a:rPr lang="zh-CN" altLang="en-US" dirty="0"/>
              <a:t>）</a:t>
            </a:r>
          </a:p>
        </p:txBody>
      </p:sp>
      <p:sp>
        <p:nvSpPr>
          <p:cNvPr id="3" name="内容占位符 2"/>
          <p:cNvSpPr>
            <a:spLocks noGrp="1"/>
          </p:cNvSpPr>
          <p:nvPr>
            <p:ph idx="1"/>
          </p:nvPr>
        </p:nvSpPr>
        <p:spPr/>
        <p:txBody>
          <a:bodyPr/>
          <a:lstStyle/>
          <a:p>
            <a:r>
              <a:rPr lang="zh-CN" altLang="en-US" dirty="0"/>
              <a:t>达</a:t>
            </a:r>
            <a:r>
              <a:rPr lang="en-US" altLang="zh-CN" dirty="0"/>
              <a:t>·</a:t>
            </a:r>
            <a:r>
              <a:rPr lang="zh-CN" altLang="en-US" dirty="0" smtClean="0"/>
              <a:t>芬奇曾</a:t>
            </a:r>
            <a:r>
              <a:rPr lang="zh-CN" altLang="en-US" dirty="0"/>
              <a:t>通过数学计算刻画天体的运行规律。他认为地球是围绕太阳旋转的行星之一，而太阳则是位于宇宙中心，并处于静止状态。</a:t>
            </a:r>
          </a:p>
        </p:txBody>
      </p:sp>
    </p:spTree>
    <p:extLst>
      <p:ext uri="{BB962C8B-B14F-4D97-AF65-F5344CB8AC3E}">
        <p14:creationId xmlns:p14="http://schemas.microsoft.com/office/powerpoint/2010/main" val="3415495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哥白尼（</a:t>
            </a:r>
            <a:r>
              <a:rPr lang="en-US" altLang="zh-CN" dirty="0"/>
              <a:t> </a:t>
            </a:r>
            <a:r>
              <a:rPr lang="en-US" altLang="zh-CN" dirty="0" err="1"/>
              <a:t>Kopernik</a:t>
            </a:r>
            <a:r>
              <a:rPr lang="en-US" altLang="zh-CN" dirty="0"/>
              <a:t> </a:t>
            </a:r>
            <a:r>
              <a:rPr lang="en-US" altLang="zh-CN" dirty="0" smtClean="0"/>
              <a:t>,</a:t>
            </a:r>
            <a:r>
              <a:rPr lang="zh-CN" altLang="en-US" dirty="0"/>
              <a:t> </a:t>
            </a:r>
            <a:r>
              <a:rPr lang="en-US" altLang="zh-CN" dirty="0" smtClean="0"/>
              <a:t>1473,1543</a:t>
            </a:r>
            <a:r>
              <a:rPr lang="zh-CN" altLang="en-US" dirty="0" smtClean="0"/>
              <a:t>年）</a:t>
            </a:r>
            <a:endParaRPr lang="zh-CN" altLang="en-US" dirty="0"/>
          </a:p>
        </p:txBody>
      </p:sp>
      <p:sp>
        <p:nvSpPr>
          <p:cNvPr id="3" name="内容占位符 2"/>
          <p:cNvSpPr>
            <a:spLocks noGrp="1"/>
          </p:cNvSpPr>
          <p:nvPr>
            <p:ph idx="1"/>
          </p:nvPr>
        </p:nvSpPr>
        <p:spPr/>
        <p:txBody>
          <a:bodyPr/>
          <a:lstStyle/>
          <a:p>
            <a:r>
              <a:rPr lang="zh-CN" altLang="en-US" dirty="0"/>
              <a:t>虽然任职于教会，并到意大利学习神学，但哥白尼自幼对天空充满了好奇，曾私下学习</a:t>
            </a:r>
            <a:r>
              <a:rPr lang="zh-CN" altLang="en-US" dirty="0" smtClean="0"/>
              <a:t>天文学。</a:t>
            </a:r>
            <a:endParaRPr lang="en-US" altLang="zh-CN" dirty="0" smtClean="0"/>
          </a:p>
          <a:p>
            <a:r>
              <a:rPr lang="zh-CN" altLang="en-US" dirty="0" smtClean="0"/>
              <a:t>据</a:t>
            </a:r>
            <a:r>
              <a:rPr lang="zh-CN" altLang="en-US" dirty="0"/>
              <a:t>记载其第一次天文观测是在</a:t>
            </a:r>
            <a:r>
              <a:rPr lang="en-US" altLang="zh-CN" dirty="0"/>
              <a:t>1497</a:t>
            </a:r>
            <a:r>
              <a:rPr lang="zh-CN" altLang="en-US" dirty="0"/>
              <a:t>年</a:t>
            </a:r>
            <a:r>
              <a:rPr lang="en-US" altLang="zh-CN" dirty="0"/>
              <a:t>3</a:t>
            </a:r>
            <a:r>
              <a:rPr lang="zh-CN" altLang="en-US" dirty="0"/>
              <a:t>月</a:t>
            </a:r>
            <a:r>
              <a:rPr lang="en-US" altLang="zh-CN" dirty="0"/>
              <a:t>9</a:t>
            </a:r>
            <a:r>
              <a:rPr lang="zh-CN" altLang="en-US" dirty="0"/>
              <a:t>日。最初他试图通过天文观察来理解和诠释托勒密地心说理论。</a:t>
            </a:r>
            <a:r>
              <a:rPr lang="en-US" altLang="zh-CN" dirty="0"/>
              <a:t>1513</a:t>
            </a:r>
            <a:r>
              <a:rPr lang="zh-CN" altLang="en-US" dirty="0"/>
              <a:t>年</a:t>
            </a:r>
            <a:r>
              <a:rPr lang="en-US" altLang="zh-CN" dirty="0"/>
              <a:t>3</a:t>
            </a:r>
            <a:r>
              <a:rPr lang="zh-CN" altLang="en-US" dirty="0"/>
              <a:t>月</a:t>
            </a:r>
            <a:r>
              <a:rPr lang="en-US" altLang="zh-CN" dirty="0"/>
              <a:t>31</a:t>
            </a:r>
            <a:r>
              <a:rPr lang="zh-CN" altLang="en-US" dirty="0"/>
              <a:t>日，他在所任职教堂建成了一座小型天文观测台，并设计出</a:t>
            </a:r>
            <a:r>
              <a:rPr lang="en-US" altLang="zh-CN" dirty="0"/>
              <a:t>3</a:t>
            </a:r>
            <a:r>
              <a:rPr lang="zh-CN" altLang="en-US" dirty="0"/>
              <a:t>架较为精密的天文仪器</a:t>
            </a:r>
            <a:r>
              <a:rPr lang="zh-CN" altLang="en-US" dirty="0" smtClean="0"/>
              <a:t>。</a:t>
            </a:r>
            <a:endParaRPr lang="en-US" altLang="zh-CN" dirty="0" smtClean="0"/>
          </a:p>
          <a:p>
            <a:r>
              <a:rPr lang="zh-CN" altLang="en-US" dirty="0"/>
              <a:t>通过大量天文观察数据和一些天文</a:t>
            </a:r>
            <a:r>
              <a:rPr lang="zh-CN" altLang="en-US" dirty="0" smtClean="0"/>
              <a:t>现象，他发现，只有将太阳放在宇宙的中心，宇宙模型才会变得简洁</a:t>
            </a:r>
            <a:endParaRPr lang="zh-CN" altLang="en-US" dirty="0"/>
          </a:p>
        </p:txBody>
      </p:sp>
    </p:spTree>
    <p:extLst>
      <p:ext uri="{BB962C8B-B14F-4D97-AF65-F5344CB8AC3E}">
        <p14:creationId xmlns:p14="http://schemas.microsoft.com/office/powerpoint/2010/main" val="269277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在大量天文数据支撑下，哥白尼构造出日心说宇宙模型。并于</a:t>
            </a:r>
            <a:r>
              <a:rPr lang="en-US" altLang="zh-CN" dirty="0"/>
              <a:t>1514</a:t>
            </a:r>
            <a:r>
              <a:rPr lang="zh-CN" altLang="en-US" dirty="0"/>
              <a:t>年完成了其第一部天文学著作手稿</a:t>
            </a:r>
            <a:r>
              <a:rPr lang="zh-CN" altLang="en-US" dirty="0" smtClean="0"/>
              <a:t>。</a:t>
            </a:r>
            <a:endParaRPr lang="en-US" altLang="zh-CN" dirty="0" smtClean="0"/>
          </a:p>
          <a:p>
            <a:r>
              <a:rPr lang="zh-CN" altLang="en-US" dirty="0" smtClean="0"/>
              <a:t>因畏惧与教会的权威，哥白尼一直也没有出版这本书。直至临终之前，哥白尼才出版了</a:t>
            </a:r>
            <a:r>
              <a:rPr lang="en-US" altLang="zh-CN" dirty="0" smtClean="0"/>
              <a:t>《</a:t>
            </a:r>
            <a:r>
              <a:rPr lang="zh-CN" altLang="en-US" dirty="0" smtClean="0"/>
              <a:t>天体运行论</a:t>
            </a:r>
            <a:r>
              <a:rPr lang="en-US" altLang="zh-CN" dirty="0" smtClean="0"/>
              <a:t>》</a:t>
            </a:r>
            <a:r>
              <a:rPr lang="zh-CN" altLang="en-US" dirty="0" smtClean="0"/>
              <a:t>一书（</a:t>
            </a:r>
            <a:r>
              <a:rPr lang="en-US" altLang="zh-CN" dirty="0"/>
              <a:t>1543</a:t>
            </a:r>
            <a:r>
              <a:rPr lang="zh-CN" altLang="en-US" dirty="0" smtClean="0"/>
              <a:t>）</a:t>
            </a:r>
            <a:endParaRPr lang="en-US" altLang="zh-CN" dirty="0" smtClean="0"/>
          </a:p>
          <a:p>
            <a:r>
              <a:rPr lang="zh-CN" altLang="en-US" dirty="0" smtClean="0"/>
              <a:t>但该书当时并未引起教会的注意，知道布鲁诺和伽利略公开宣扬日心说，危及了教会的统治，该书才被列为禁书（</a:t>
            </a:r>
            <a:r>
              <a:rPr lang="en-US" altLang="zh-CN" dirty="0" smtClean="0"/>
              <a:t>1616</a:t>
            </a:r>
            <a:r>
              <a:rPr lang="zh-CN" altLang="en-US" dirty="0" smtClean="0"/>
              <a:t>）。</a:t>
            </a:r>
            <a:endParaRPr lang="en-US" altLang="zh-CN" dirty="0" smtClean="0"/>
          </a:p>
        </p:txBody>
      </p:sp>
    </p:spTree>
    <p:extLst>
      <p:ext uri="{BB962C8B-B14F-4D97-AF65-F5344CB8AC3E}">
        <p14:creationId xmlns:p14="http://schemas.microsoft.com/office/powerpoint/2010/main" val="24613049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主要观点</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a:t>
            </a:r>
            <a:r>
              <a:rPr lang="en-US" altLang="zh-CN" dirty="0" smtClean="0"/>
              <a:t>1</a:t>
            </a:r>
            <a:r>
              <a:rPr lang="zh-CN" altLang="en-US" dirty="0"/>
              <a:t>）地球不是宇宙中心，而是月球运行的</a:t>
            </a:r>
            <a:r>
              <a:rPr lang="zh-CN" altLang="en-US" dirty="0" smtClean="0"/>
              <a:t>中心</a:t>
            </a:r>
            <a:endParaRPr lang="en-US" altLang="zh-CN" dirty="0" smtClean="0"/>
          </a:p>
          <a:p>
            <a:pPr marL="0" indent="0">
              <a:buNone/>
            </a:pPr>
            <a:r>
              <a:rPr lang="zh-CN" altLang="en-US" dirty="0" smtClean="0"/>
              <a:t>（</a:t>
            </a:r>
            <a:r>
              <a:rPr lang="en-US" altLang="zh-CN" dirty="0"/>
              <a:t>2</a:t>
            </a:r>
            <a:r>
              <a:rPr lang="zh-CN" altLang="en-US" dirty="0"/>
              <a:t>）地球绕其轴自转，并带动周围天体绕其不动极点作</a:t>
            </a:r>
            <a:r>
              <a:rPr lang="zh-CN" altLang="en-US" dirty="0" smtClean="0"/>
              <a:t>周日运动 </a:t>
            </a:r>
            <a:endParaRPr lang="en-US" altLang="zh-CN" dirty="0" smtClean="0"/>
          </a:p>
          <a:p>
            <a:pPr marL="0" indent="0">
              <a:buNone/>
            </a:pPr>
            <a:r>
              <a:rPr lang="zh-CN" altLang="en-US" dirty="0" smtClean="0"/>
              <a:t>（</a:t>
            </a:r>
            <a:r>
              <a:rPr lang="en-US" altLang="zh-CN" dirty="0"/>
              <a:t>3</a:t>
            </a:r>
            <a:r>
              <a:rPr lang="zh-CN" altLang="en-US" dirty="0"/>
              <a:t>）所有天球皆围绕着太阳旋转，故太阳是宇宙</a:t>
            </a:r>
            <a:r>
              <a:rPr lang="zh-CN" altLang="en-US" dirty="0" smtClean="0"/>
              <a:t>中心</a:t>
            </a:r>
            <a:endParaRPr lang="en-US" altLang="zh-CN" dirty="0"/>
          </a:p>
          <a:p>
            <a:pPr marL="0" indent="0">
              <a:buNone/>
            </a:pPr>
            <a:r>
              <a:rPr lang="zh-CN" altLang="en-US" dirty="0" smtClean="0"/>
              <a:t>（</a:t>
            </a:r>
            <a:r>
              <a:rPr lang="en-US" altLang="zh-CN" dirty="0"/>
              <a:t>4</a:t>
            </a:r>
            <a:r>
              <a:rPr lang="zh-CN" altLang="en-US" dirty="0"/>
              <a:t>）太阳的视运动是因地球和其他天球的运动而</a:t>
            </a:r>
            <a:r>
              <a:rPr lang="zh-CN" altLang="en-US" dirty="0" smtClean="0"/>
              <a:t>产生 </a:t>
            </a:r>
            <a:endParaRPr lang="en-US" altLang="zh-CN" dirty="0" smtClean="0"/>
          </a:p>
          <a:p>
            <a:pPr marL="0" indent="0">
              <a:buNone/>
            </a:pPr>
            <a:r>
              <a:rPr lang="zh-CN" altLang="en-US" dirty="0" smtClean="0"/>
              <a:t>（</a:t>
            </a:r>
            <a:r>
              <a:rPr lang="en-US" altLang="zh-CN" dirty="0"/>
              <a:t>5</a:t>
            </a:r>
            <a:r>
              <a:rPr lang="zh-CN" altLang="en-US" dirty="0"/>
              <a:t>）行星的视运动和逆行，是由于地球的运动而</a:t>
            </a:r>
            <a:r>
              <a:rPr lang="zh-CN" altLang="en-US" dirty="0" smtClean="0"/>
              <a:t>产生</a:t>
            </a:r>
            <a:endParaRPr lang="en-US" altLang="zh-CN" dirty="0" smtClean="0"/>
          </a:p>
          <a:p>
            <a:pPr marL="0" indent="0">
              <a:buNone/>
            </a:pPr>
            <a:r>
              <a:rPr lang="zh-CN" altLang="en-US" dirty="0" smtClean="0"/>
              <a:t>（</a:t>
            </a:r>
            <a:r>
              <a:rPr lang="en-US" altLang="zh-CN" dirty="0"/>
              <a:t>6</a:t>
            </a:r>
            <a:r>
              <a:rPr lang="zh-CN" altLang="en-US" dirty="0"/>
              <a:t>）日地距离和天穹高度之比远远小于地球半径和日地距离之比</a:t>
            </a:r>
          </a:p>
        </p:txBody>
      </p:sp>
    </p:spTree>
    <p:extLst>
      <p:ext uri="{BB962C8B-B14F-4D97-AF65-F5344CB8AC3E}">
        <p14:creationId xmlns:p14="http://schemas.microsoft.com/office/powerpoint/2010/main" val="9231298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当时存在的理论缺陷</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一、受</a:t>
            </a:r>
            <a:r>
              <a:rPr lang="zh-CN" altLang="en-US" dirty="0"/>
              <a:t>柏拉图主义影响，认为天体只能做</a:t>
            </a:r>
            <a:r>
              <a:rPr lang="zh-CN" altLang="en-US" dirty="0" smtClean="0"/>
              <a:t>匀速圆周运动</a:t>
            </a:r>
            <a:endParaRPr lang="en-US" altLang="zh-CN" dirty="0" smtClean="0"/>
          </a:p>
          <a:p>
            <a:pPr marL="0" indent="0">
              <a:buNone/>
            </a:pPr>
            <a:r>
              <a:rPr lang="zh-CN" altLang="en-US" dirty="0" smtClean="0"/>
              <a:t>二、是</a:t>
            </a:r>
            <a:r>
              <a:rPr lang="zh-CN" altLang="en-US" dirty="0"/>
              <a:t>未能发现恒星</a:t>
            </a:r>
            <a:r>
              <a:rPr lang="zh-CN" altLang="en-US" dirty="0" smtClean="0"/>
              <a:t>视差</a:t>
            </a:r>
            <a:endParaRPr lang="en-US" altLang="zh-CN" dirty="0" smtClean="0"/>
          </a:p>
          <a:p>
            <a:pPr marL="0" indent="0">
              <a:buNone/>
            </a:pPr>
            <a:r>
              <a:rPr lang="zh-CN" altLang="en-US" dirty="0" smtClean="0"/>
              <a:t>三、是</a:t>
            </a:r>
            <a:r>
              <a:rPr lang="zh-CN" altLang="en-US" dirty="0"/>
              <a:t>认为太阳为</a:t>
            </a:r>
            <a:r>
              <a:rPr lang="zh-CN" altLang="en-US" dirty="0" smtClean="0"/>
              <a:t>宇宙</a:t>
            </a:r>
            <a:r>
              <a:rPr lang="zh-CN" altLang="en-US" dirty="0"/>
              <a:t>的中心</a:t>
            </a:r>
          </a:p>
        </p:txBody>
      </p:sp>
    </p:spTree>
    <p:extLst>
      <p:ext uri="{BB962C8B-B14F-4D97-AF65-F5344CB8AC3E}">
        <p14:creationId xmlns:p14="http://schemas.microsoft.com/office/powerpoint/2010/main" val="15002887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伽利略（</a:t>
            </a:r>
            <a:r>
              <a:rPr lang="en-US" altLang="zh-CN" dirty="0" smtClean="0"/>
              <a:t>1564,1642</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dirty="0"/>
              <a:t>1609</a:t>
            </a:r>
            <a:r>
              <a:rPr lang="zh-CN" altLang="zh-CN" dirty="0"/>
              <a:t>年他研制成历史上第一架放大倍数达</a:t>
            </a:r>
            <a:r>
              <a:rPr lang="en-US" altLang="zh-CN" dirty="0"/>
              <a:t>32</a:t>
            </a:r>
            <a:r>
              <a:rPr lang="zh-CN" altLang="zh-CN" dirty="0"/>
              <a:t>倍的</a:t>
            </a:r>
            <a:r>
              <a:rPr lang="zh-CN" altLang="zh-CN" dirty="0" smtClean="0"/>
              <a:t>天文望远镜</a:t>
            </a:r>
            <a:endParaRPr lang="en-US" altLang="zh-CN" dirty="0" smtClean="0"/>
          </a:p>
          <a:p>
            <a:r>
              <a:rPr lang="en-US" altLang="zh-CN" dirty="0"/>
              <a:t>1610</a:t>
            </a:r>
            <a:r>
              <a:rPr lang="zh-CN" altLang="zh-CN" dirty="0"/>
              <a:t>年，他被聘为宫庭哲学家和大学里的首席数学家。并当年出版了《星空信使》一书，通俗地向读者介绍他观察到的天体</a:t>
            </a:r>
            <a:r>
              <a:rPr lang="zh-CN" altLang="zh-CN" dirty="0" smtClean="0"/>
              <a:t>现象</a:t>
            </a:r>
            <a:endParaRPr lang="en-US" altLang="zh-CN" dirty="0" smtClean="0"/>
          </a:p>
          <a:p>
            <a:r>
              <a:rPr lang="en-US" altLang="zh-CN" dirty="0"/>
              <a:t>1611</a:t>
            </a:r>
            <a:r>
              <a:rPr lang="zh-CN" altLang="zh-CN" dirty="0" smtClean="0"/>
              <a:t>年</a:t>
            </a:r>
            <a:r>
              <a:rPr lang="zh-CN" altLang="en-US" dirty="0" smtClean="0"/>
              <a:t>和</a:t>
            </a:r>
            <a:r>
              <a:rPr lang="en-US" altLang="zh-CN" dirty="0" smtClean="0"/>
              <a:t>1615</a:t>
            </a:r>
            <a:r>
              <a:rPr lang="zh-CN" altLang="zh-CN" dirty="0" smtClean="0"/>
              <a:t>年</a:t>
            </a:r>
            <a:r>
              <a:rPr lang="zh-CN" altLang="en-US" dirty="0"/>
              <a:t>两</a:t>
            </a:r>
            <a:r>
              <a:rPr lang="zh-CN" altLang="en-US" dirty="0" smtClean="0"/>
              <a:t>次被教会</a:t>
            </a:r>
            <a:r>
              <a:rPr lang="zh-CN" altLang="zh-CN" dirty="0" smtClean="0"/>
              <a:t>警告。</a:t>
            </a:r>
            <a:endParaRPr lang="en-US" altLang="zh-CN" dirty="0" smtClean="0"/>
          </a:p>
          <a:p>
            <a:r>
              <a:rPr lang="en-US" altLang="zh-CN" dirty="0"/>
              <a:t>1632</a:t>
            </a:r>
            <a:r>
              <a:rPr lang="zh-CN" altLang="zh-CN" dirty="0"/>
              <a:t>年伽利略秘密出版了</a:t>
            </a:r>
            <a:r>
              <a:rPr lang="zh-CN" altLang="zh-CN" dirty="0" smtClean="0"/>
              <a:t>《关于托勒密和哥白尼两大世界体系的对话》</a:t>
            </a:r>
            <a:endParaRPr lang="en-US" altLang="zh-CN" dirty="0" smtClean="0"/>
          </a:p>
          <a:p>
            <a:r>
              <a:rPr lang="en-US" altLang="zh-CN" dirty="0"/>
              <a:t>1633</a:t>
            </a:r>
            <a:r>
              <a:rPr lang="zh-CN" altLang="zh-CN" dirty="0"/>
              <a:t>年再次受到罗马裁判所的传讯，被判终身监禁，其书被判为禁书</a:t>
            </a:r>
            <a:endParaRPr lang="zh-CN" altLang="en-US" dirty="0"/>
          </a:p>
        </p:txBody>
      </p:sp>
    </p:spTree>
    <p:extLst>
      <p:ext uri="{BB962C8B-B14F-4D97-AF65-F5344CB8AC3E}">
        <p14:creationId xmlns:p14="http://schemas.microsoft.com/office/powerpoint/2010/main" val="13420666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27906"/>
            <a:ext cx="6486427" cy="4351338"/>
          </a:xfrm>
        </p:spPr>
        <p:txBody>
          <a:bodyPr>
            <a:normAutofit lnSpcReduction="10000"/>
          </a:bodyPr>
          <a:lstStyle/>
          <a:p>
            <a:r>
              <a:rPr lang="en-US" altLang="zh-CN" dirty="0" smtClean="0"/>
              <a:t>1609</a:t>
            </a:r>
            <a:r>
              <a:rPr lang="zh-CN" altLang="en-US" dirty="0" smtClean="0"/>
              <a:t>年，发现月亮上存在环形山</a:t>
            </a:r>
            <a:endParaRPr lang="en-US" altLang="zh-CN" dirty="0" smtClean="0"/>
          </a:p>
          <a:p>
            <a:r>
              <a:rPr lang="en-US" altLang="zh-CN" dirty="0" smtClean="0"/>
              <a:t>1609-1612</a:t>
            </a:r>
            <a:r>
              <a:rPr lang="zh-CN" altLang="en-US" dirty="0" smtClean="0"/>
              <a:t>年，发现木星的四颗卫星并测算出其周期</a:t>
            </a:r>
            <a:endParaRPr lang="en-US" altLang="zh-CN" dirty="0" smtClean="0"/>
          </a:p>
          <a:p>
            <a:r>
              <a:rPr lang="en-US" altLang="zh-CN" dirty="0"/>
              <a:t>1610</a:t>
            </a:r>
            <a:r>
              <a:rPr lang="zh-CN" altLang="en-US" dirty="0"/>
              <a:t>年，认识到银河是由无数恒星</a:t>
            </a:r>
            <a:r>
              <a:rPr lang="zh-CN" altLang="en-US" dirty="0" smtClean="0"/>
              <a:t>组成</a:t>
            </a:r>
            <a:endParaRPr lang="en-US" altLang="zh-CN" dirty="0" smtClean="0"/>
          </a:p>
          <a:p>
            <a:r>
              <a:rPr lang="en-US" altLang="zh-CN" dirty="0" smtClean="0"/>
              <a:t>1612</a:t>
            </a:r>
            <a:r>
              <a:rPr lang="zh-CN" altLang="en-US" dirty="0" smtClean="0"/>
              <a:t>年，发现金星的相位变化</a:t>
            </a:r>
            <a:endParaRPr lang="en-US" altLang="zh-CN" dirty="0" smtClean="0"/>
          </a:p>
          <a:p>
            <a:r>
              <a:rPr lang="en-US" altLang="zh-CN" dirty="0" smtClean="0"/>
              <a:t>1610-1613</a:t>
            </a:r>
            <a:r>
              <a:rPr lang="zh-CN" altLang="en-US" dirty="0" smtClean="0"/>
              <a:t>年，观察到太阳黑子的运动，论证其存在于太阳表面</a:t>
            </a:r>
            <a:endParaRPr lang="en-US" altLang="zh-CN" dirty="0" smtClean="0"/>
          </a:p>
          <a:p>
            <a:r>
              <a:rPr lang="zh-CN" altLang="zh-CN" dirty="0" smtClean="0"/>
              <a:t>伽利略</a:t>
            </a:r>
            <a:r>
              <a:rPr lang="zh-CN" altLang="zh-CN" dirty="0"/>
              <a:t>还看到了土星光环，但由于分辨率不高，伽利略认为那是土星的两颗</a:t>
            </a:r>
            <a:r>
              <a:rPr lang="zh-CN" altLang="zh-CN" dirty="0" smtClean="0"/>
              <a:t>伴星</a:t>
            </a:r>
            <a:endParaRPr lang="en-US" altLang="zh-CN" dirty="0" smtClean="0"/>
          </a:p>
        </p:txBody>
      </p:sp>
      <p:pic>
        <p:nvPicPr>
          <p:cNvPr id="4"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2685" y="1141412"/>
            <a:ext cx="3067050" cy="4124325"/>
          </a:xfrm>
          <a:prstGeom prst="rect">
            <a:avLst/>
          </a:prstGeom>
        </p:spPr>
      </p:pic>
    </p:spTree>
    <p:extLst>
      <p:ext uri="{BB962C8B-B14F-4D97-AF65-F5344CB8AC3E}">
        <p14:creationId xmlns:p14="http://schemas.microsoft.com/office/powerpoint/2010/main" val="191906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1000"/>
                                        <p:tgtEl>
                                          <p:spTgt spid="4"/>
                                        </p:tgtEl>
                                      </p:cBhvr>
                                    </p:animEffect>
                                    <p:anim calcmode="lin" valueType="num">
                                      <p:cBhvr>
                                        <p:cTn id="44" dur="1000" fill="hold"/>
                                        <p:tgtEl>
                                          <p:spTgt spid="4"/>
                                        </p:tgtEl>
                                        <p:attrNameLst>
                                          <p:attrName>ppt_x</p:attrName>
                                        </p:attrNameLst>
                                      </p:cBhvr>
                                      <p:tavLst>
                                        <p:tav tm="0">
                                          <p:val>
                                            <p:strVal val="#ppt_x"/>
                                          </p:val>
                                        </p:tav>
                                        <p:tav tm="100000">
                                          <p:val>
                                            <p:strVal val="#ppt_x"/>
                                          </p:val>
                                        </p:tav>
                                      </p:tavLst>
                                    </p:anim>
                                    <p:anim calcmode="lin" valueType="num">
                                      <p:cBhvr>
                                        <p:cTn id="4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49451" y="66235"/>
            <a:ext cx="9157355" cy="663166"/>
          </a:xfrm>
        </p:spPr>
        <p:txBody>
          <a:bodyPr>
            <a:normAutofit fontScale="90000"/>
          </a:bodyPr>
          <a:lstStyle/>
          <a:p>
            <a:r>
              <a:rPr lang="zh-CN" altLang="en-US" dirty="0" smtClean="0"/>
              <a:t>托勒密模型</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29401"/>
            <a:ext cx="12192000" cy="6128599"/>
          </a:xfrm>
        </p:spPr>
      </p:pic>
    </p:spTree>
    <p:extLst>
      <p:ext uri="{BB962C8B-B14F-4D97-AF65-F5344CB8AC3E}">
        <p14:creationId xmlns:p14="http://schemas.microsoft.com/office/powerpoint/2010/main" val="18835270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55183" y="0"/>
            <a:ext cx="8337223" cy="769382"/>
          </a:xfrm>
        </p:spPr>
        <p:txBody>
          <a:bodyPr/>
          <a:lstStyle/>
          <a:p>
            <a:r>
              <a:rPr lang="zh-CN" altLang="en-US" dirty="0" smtClean="0"/>
              <a:t>日心说模型</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21151"/>
            <a:ext cx="12192091" cy="6136849"/>
          </a:xfrm>
        </p:spPr>
      </p:pic>
    </p:spTree>
    <p:extLst>
      <p:ext uri="{BB962C8B-B14F-4D97-AF65-F5344CB8AC3E}">
        <p14:creationId xmlns:p14="http://schemas.microsoft.com/office/powerpoint/2010/main" val="918728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观测大师</a:t>
            </a:r>
            <a:r>
              <a:rPr lang="en-US" altLang="zh-CN" dirty="0" smtClean="0"/>
              <a:t>-</a:t>
            </a:r>
            <a:r>
              <a:rPr lang="zh-CN" altLang="en-US" dirty="0" smtClean="0"/>
              <a:t>第谷（</a:t>
            </a:r>
            <a:r>
              <a:rPr lang="en-US" altLang="zh-CN" dirty="0" smtClean="0"/>
              <a:t>1546,1601</a:t>
            </a:r>
            <a:r>
              <a:rPr lang="zh-CN" altLang="en-US" dirty="0" smtClean="0"/>
              <a:t>）</a:t>
            </a:r>
            <a:endParaRPr lang="zh-CN" altLang="en-US" dirty="0"/>
          </a:p>
        </p:txBody>
      </p:sp>
      <p:sp>
        <p:nvSpPr>
          <p:cNvPr id="3" name="内容占位符 2"/>
          <p:cNvSpPr>
            <a:spLocks noGrp="1"/>
          </p:cNvSpPr>
          <p:nvPr>
            <p:ph idx="1"/>
          </p:nvPr>
        </p:nvSpPr>
        <p:spPr>
          <a:xfrm>
            <a:off x="838200" y="1825625"/>
            <a:ext cx="6354452" cy="4351338"/>
          </a:xfrm>
        </p:spPr>
        <p:txBody>
          <a:bodyPr/>
          <a:lstStyle/>
          <a:p>
            <a:r>
              <a:rPr lang="zh-CN" altLang="en-US" dirty="0" smtClean="0"/>
              <a:t>通过观测哈雷彗星，证明彗星属于月上世界，证明彗星的轨道并不是正圆</a:t>
            </a:r>
            <a:endParaRPr lang="en-US" altLang="zh-CN" dirty="0" smtClean="0"/>
          </a:p>
          <a:p>
            <a:r>
              <a:rPr lang="zh-CN" altLang="en-US" dirty="0" smtClean="0"/>
              <a:t>提出了一种折中学说。</a:t>
            </a:r>
            <a:endParaRPr lang="en-US" altLang="zh-CN" dirty="0" smtClean="0"/>
          </a:p>
          <a:p>
            <a:r>
              <a:rPr lang="zh-CN" altLang="en-US" dirty="0" smtClean="0"/>
              <a:t>（未）出版</a:t>
            </a:r>
            <a:r>
              <a:rPr lang="en-US" altLang="zh-CN" dirty="0" smtClean="0"/>
              <a:t>《</a:t>
            </a:r>
            <a:r>
              <a:rPr lang="zh-CN" altLang="en-US" dirty="0" smtClean="0"/>
              <a:t>鲁道夫星表</a:t>
            </a:r>
            <a:r>
              <a:rPr lang="en-US" altLang="zh-CN" dirty="0" smtClean="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6579" y="1690688"/>
            <a:ext cx="4341428" cy="4341428"/>
          </a:xfrm>
          <a:prstGeom prst="rect">
            <a:avLst/>
          </a:prstGeom>
        </p:spPr>
      </p:pic>
    </p:spTree>
    <p:extLst>
      <p:ext uri="{BB962C8B-B14F-4D97-AF65-F5344CB8AC3E}">
        <p14:creationId xmlns:p14="http://schemas.microsoft.com/office/powerpoint/2010/main" val="36176520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天空立法者</a:t>
            </a:r>
            <a:r>
              <a:rPr lang="en-US" altLang="zh-CN" dirty="0" smtClean="0"/>
              <a:t>-</a:t>
            </a:r>
            <a:r>
              <a:rPr lang="zh-CN" altLang="en-US" dirty="0" smtClean="0"/>
              <a:t>开普勒（</a:t>
            </a:r>
            <a:r>
              <a:rPr lang="en-US" altLang="zh-CN" dirty="0" smtClean="0"/>
              <a:t>1571,1630</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开普勒年轻时，</a:t>
            </a:r>
            <a:r>
              <a:rPr lang="zh-CN" altLang="en-US" dirty="0"/>
              <a:t>提出</a:t>
            </a:r>
            <a:r>
              <a:rPr lang="zh-CN" altLang="en-US" dirty="0" smtClean="0"/>
              <a:t>过一种正多面体模型</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8780" y="1489465"/>
            <a:ext cx="3535020" cy="4854057"/>
          </a:xfrm>
          <a:prstGeom prst="rect">
            <a:avLst/>
          </a:prstGeom>
        </p:spPr>
      </p:pic>
    </p:spTree>
    <p:extLst>
      <p:ext uri="{BB962C8B-B14F-4D97-AF65-F5344CB8AC3E}">
        <p14:creationId xmlns:p14="http://schemas.microsoft.com/office/powerpoint/2010/main" val="28911653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正多面体宇宙</a:t>
            </a:r>
            <a:endParaRPr lang="zh-CN" altLang="en-US" dirty="0"/>
          </a:p>
        </p:txBody>
      </p:sp>
      <p:sp>
        <p:nvSpPr>
          <p:cNvPr id="3" name="内容占位符 2"/>
          <p:cNvSpPr>
            <a:spLocks noGrp="1"/>
          </p:cNvSpPr>
          <p:nvPr>
            <p:ph idx="1"/>
          </p:nvPr>
        </p:nvSpPr>
        <p:spPr/>
        <p:txBody>
          <a:bodyPr/>
          <a:lstStyle/>
          <a:p>
            <a:r>
              <a:rPr lang="zh-CN" altLang="en-US" dirty="0"/>
              <a:t>他认为土星、木星、火星、地球、金星和水星的轨道分别在大小不等的六个球的球面上，六球依次套切成正四面体、正六面体、正八面体、正十二面体和正二十面体，太阳居中心。</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090818"/>
            <a:ext cx="3463214" cy="3221082"/>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006" y="3372687"/>
            <a:ext cx="4098697" cy="2872652"/>
          </a:xfrm>
          <a:prstGeom prst="rect">
            <a:avLst/>
          </a:prstGeom>
        </p:spPr>
      </p:pic>
    </p:spTree>
    <p:extLst>
      <p:ext uri="{BB962C8B-B14F-4D97-AF65-F5344CB8AC3E}">
        <p14:creationId xmlns:p14="http://schemas.microsoft.com/office/powerpoint/2010/main" val="30367911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采用圆轨道来解释火星轨道，预测与第谷的观测总有</a:t>
            </a:r>
            <a:r>
              <a:rPr lang="en-US" altLang="zh-CN" dirty="0" smtClean="0"/>
              <a:t>8</a:t>
            </a:r>
            <a:r>
              <a:rPr lang="zh-CN" altLang="en-US" dirty="0" smtClean="0"/>
              <a:t>分的偏差不能消除。最终他采取了椭圆轨道，完美的解决了这个问题，并提出来两条定律：椭圆定律和面积定律</a:t>
            </a:r>
            <a:endParaRPr lang="en-US" altLang="zh-CN" dirty="0" smtClean="0"/>
          </a:p>
          <a:p>
            <a:r>
              <a:rPr lang="zh-CN" altLang="en-US" dirty="0" smtClean="0"/>
              <a:t>因为对于对宇宙和谐的艰辛，经过了近</a:t>
            </a:r>
            <a:r>
              <a:rPr lang="en-US" altLang="zh-CN" dirty="0" smtClean="0"/>
              <a:t>20</a:t>
            </a:r>
            <a:r>
              <a:rPr lang="zh-CN" altLang="en-US" dirty="0" smtClean="0"/>
              <a:t>年的计算，开普勒终于计算出了他的第三条定律：周期定律</a:t>
            </a:r>
            <a:endParaRPr lang="zh-CN" altLang="en-US" dirty="0"/>
          </a:p>
        </p:txBody>
      </p:sp>
    </p:spTree>
    <p:extLst>
      <p:ext uri="{BB962C8B-B14F-4D97-AF65-F5344CB8AC3E}">
        <p14:creationId xmlns:p14="http://schemas.microsoft.com/office/powerpoint/2010/main" val="215369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pt-BR" altLang="zh-CN" dirty="0"/>
              <a:t>Mensus eram coelos, nunc terrae metior umbras</a:t>
            </a:r>
            <a:br>
              <a:rPr lang="pt-BR" altLang="zh-CN" dirty="0"/>
            </a:br>
            <a:r>
              <a:rPr lang="pt-BR" altLang="zh-CN" dirty="0"/>
              <a:t>Mens coelestis erat, corporis umbra </a:t>
            </a:r>
            <a:r>
              <a:rPr lang="pt-BR" altLang="zh-CN" dirty="0" smtClean="0"/>
              <a:t>iacet</a:t>
            </a:r>
          </a:p>
          <a:p>
            <a:endParaRPr lang="pt-BR" altLang="zh-CN" dirty="0"/>
          </a:p>
          <a:p>
            <a:pPr marL="0" indent="0">
              <a:buNone/>
            </a:pPr>
            <a:r>
              <a:rPr lang="en-US" altLang="zh-CN" dirty="0"/>
              <a:t>I measured the skies, now the shadows I measure</a:t>
            </a:r>
            <a:br>
              <a:rPr lang="en-US" altLang="zh-CN" dirty="0"/>
            </a:br>
            <a:r>
              <a:rPr lang="en-US" altLang="zh-CN" dirty="0" err="1"/>
              <a:t>Skybound</a:t>
            </a:r>
            <a:r>
              <a:rPr lang="en-US" altLang="zh-CN" dirty="0"/>
              <a:t> was the mind, earthbound the body rests</a:t>
            </a:r>
            <a:r>
              <a:rPr lang="en-US" altLang="zh-CN" dirty="0" smtClean="0"/>
              <a:t>.</a:t>
            </a:r>
          </a:p>
          <a:p>
            <a:pPr marL="0" indent="0">
              <a:buNone/>
            </a:pPr>
            <a:endParaRPr lang="en-US" altLang="zh-CN" dirty="0"/>
          </a:p>
          <a:p>
            <a:pPr marL="0" indent="0">
              <a:buNone/>
            </a:pPr>
            <a:r>
              <a:rPr lang="zh-CN" altLang="en-US" dirty="0"/>
              <a:t>我曾测量天空，现在测量幽冥</a:t>
            </a:r>
            <a:r>
              <a:rPr lang="zh-CN" altLang="en-US" dirty="0" smtClean="0"/>
              <a:t>。</a:t>
            </a:r>
            <a:endParaRPr lang="en-US" altLang="zh-CN" dirty="0" smtClean="0"/>
          </a:p>
          <a:p>
            <a:pPr marL="0" indent="0">
              <a:buNone/>
            </a:pPr>
            <a:r>
              <a:rPr lang="zh-CN" altLang="en-US" dirty="0" smtClean="0"/>
              <a:t>灵魂</a:t>
            </a:r>
            <a:r>
              <a:rPr lang="zh-CN" altLang="en-US" dirty="0"/>
              <a:t>飞向天国，肉体安息土中。</a:t>
            </a:r>
          </a:p>
        </p:txBody>
      </p:sp>
    </p:spTree>
    <p:extLst>
      <p:ext uri="{BB962C8B-B14F-4D97-AF65-F5344CB8AC3E}">
        <p14:creationId xmlns:p14="http://schemas.microsoft.com/office/powerpoint/2010/main" val="8920218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牛顿（</a:t>
            </a:r>
            <a:r>
              <a:rPr lang="en-US" altLang="zh-CN" dirty="0"/>
              <a:t>1643,1727</a:t>
            </a:r>
            <a:r>
              <a:rPr lang="zh-CN" altLang="en-US" dirty="0"/>
              <a:t>）</a:t>
            </a:r>
            <a:r>
              <a:rPr lang="en-US" altLang="zh-CN" dirty="0"/>
              <a:t/>
            </a:r>
            <a:br>
              <a:rPr lang="en-US" altLang="zh-CN" dirty="0"/>
            </a:b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研究了地球对月球的吸引力，发现了万有引力定律，统一了月上世界和月下世界。</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9986159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1781</a:t>
            </a:r>
            <a:r>
              <a:rPr lang="zh-CN" altLang="en-US" dirty="0" smtClean="0"/>
              <a:t>年，威廉</a:t>
            </a:r>
            <a:r>
              <a:rPr lang="en-US" altLang="zh-CN" dirty="0"/>
              <a:t>·</a:t>
            </a:r>
            <a:r>
              <a:rPr lang="zh-CN" altLang="en-US" dirty="0" smtClean="0"/>
              <a:t>赫谢尔在自家宅院中发现了一个有圆面的天体，最开始他以彗星描述，在排除掉彗星的</a:t>
            </a:r>
            <a:r>
              <a:rPr lang="zh-CN" altLang="en-US" dirty="0"/>
              <a:t>可能性后，这个天体很快便被接受是一颗行星</a:t>
            </a:r>
            <a:r>
              <a:rPr lang="zh-CN" altLang="en-US" dirty="0" smtClean="0"/>
              <a:t>。</a:t>
            </a:r>
            <a:endParaRPr lang="en-US" altLang="zh-CN" dirty="0" smtClean="0"/>
          </a:p>
          <a:p>
            <a:endParaRPr lang="en-US" altLang="zh-CN" b="1" dirty="0" smtClean="0"/>
          </a:p>
          <a:p>
            <a:r>
              <a:rPr lang="en-US" altLang="zh-CN" dirty="0" smtClean="0"/>
              <a:t>1846</a:t>
            </a:r>
            <a:r>
              <a:rPr lang="zh-CN" altLang="en-US" dirty="0" smtClean="0"/>
              <a:t>年，奥本</a:t>
            </a:r>
            <a:r>
              <a:rPr lang="en-US" altLang="zh-CN" dirty="0" smtClean="0"/>
              <a:t>·</a:t>
            </a:r>
            <a:r>
              <a:rPr lang="zh-CN" altLang="en-US" dirty="0" smtClean="0"/>
              <a:t>勒维耶和</a:t>
            </a:r>
            <a:r>
              <a:rPr lang="zh-CN" altLang="en-US" dirty="0"/>
              <a:t>约翰</a:t>
            </a:r>
            <a:r>
              <a:rPr lang="en-US" altLang="zh-CN" dirty="0"/>
              <a:t>·</a:t>
            </a:r>
            <a:r>
              <a:rPr lang="zh-CN" altLang="en-US" dirty="0"/>
              <a:t>柯西</a:t>
            </a:r>
            <a:r>
              <a:rPr lang="en-US" altLang="zh-CN" dirty="0"/>
              <a:t>·</a:t>
            </a:r>
            <a:r>
              <a:rPr lang="zh-CN" altLang="en-US" dirty="0"/>
              <a:t>亚当</a:t>
            </a:r>
            <a:r>
              <a:rPr lang="zh-CN" altLang="en-US" dirty="0" smtClean="0"/>
              <a:t>斯通过计算，算出了海王星的位置，并最终由柏林天文台找到了海王星。</a:t>
            </a:r>
            <a:endParaRPr lang="zh-CN" altLang="en-US" b="1" dirty="0"/>
          </a:p>
        </p:txBody>
      </p:sp>
    </p:spTree>
    <p:extLst>
      <p:ext uri="{BB962C8B-B14F-4D97-AF65-F5344CB8AC3E}">
        <p14:creationId xmlns:p14="http://schemas.microsoft.com/office/powerpoint/2010/main" val="33081590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23672"/>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05  </a:t>
            </a:r>
            <a:r>
              <a:rPr lang="zh-CN" altLang="en-US" sz="5400" dirty="0" smtClean="0"/>
              <a:t>银河系和河外星系</a:t>
            </a:r>
            <a:endParaRPr lang="zh-CN" altLang="en-US" sz="5400" dirty="0"/>
          </a:p>
        </p:txBody>
      </p:sp>
    </p:spTree>
    <p:extLst>
      <p:ext uri="{BB962C8B-B14F-4D97-AF65-F5344CB8AC3E}">
        <p14:creationId xmlns:p14="http://schemas.microsoft.com/office/powerpoint/2010/main" val="1579412992"/>
      </p:ext>
    </p:extLst>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研究历史</a:t>
            </a:r>
          </a:p>
        </p:txBody>
      </p:sp>
      <p:pic>
        <p:nvPicPr>
          <p:cNvPr id="4" name="内容占位符 3"/>
          <p:cNvPicPr>
            <a:picLocks noGrp="1" noChangeAspect="1"/>
          </p:cNvPicPr>
          <p:nvPr>
            <p:ph idx="1"/>
          </p:nvPr>
        </p:nvPicPr>
        <p:blipFill>
          <a:blip r:embed="rId2"/>
          <a:stretch>
            <a:fillRect/>
          </a:stretch>
        </p:blipFill>
        <p:spPr>
          <a:xfrm>
            <a:off x="987425" y="1811020"/>
            <a:ext cx="7739380" cy="4351655"/>
          </a:xfrm>
          <a:prstGeom prst="rect">
            <a:avLst/>
          </a:prstGeom>
        </p:spPr>
      </p:pic>
      <p:pic>
        <p:nvPicPr>
          <p:cNvPr id="5" name="图片 4"/>
          <p:cNvPicPr>
            <a:picLocks noChangeAspect="1"/>
          </p:cNvPicPr>
          <p:nvPr/>
        </p:nvPicPr>
        <p:blipFill>
          <a:blip r:embed="rId3"/>
          <a:stretch>
            <a:fillRect/>
          </a:stretch>
        </p:blipFill>
        <p:spPr>
          <a:xfrm>
            <a:off x="3158490" y="1745615"/>
            <a:ext cx="7971790" cy="4481830"/>
          </a:xfrm>
          <a:prstGeom prst="rect">
            <a:avLst/>
          </a:prstGeom>
        </p:spPr>
      </p:pic>
      <p:pic>
        <p:nvPicPr>
          <p:cNvPr id="6" name="图片 5"/>
          <p:cNvPicPr>
            <a:picLocks noChangeAspect="1"/>
          </p:cNvPicPr>
          <p:nvPr/>
        </p:nvPicPr>
        <p:blipFill>
          <a:blip r:embed="rId4"/>
          <a:stretch>
            <a:fillRect/>
          </a:stretch>
        </p:blipFill>
        <p:spPr>
          <a:xfrm>
            <a:off x="4002405" y="1745615"/>
            <a:ext cx="7914640" cy="4450080"/>
          </a:xfrm>
          <a:prstGeom prst="rect">
            <a:avLst/>
          </a:prstGeom>
        </p:spPr>
      </p:pic>
    </p:spTree>
    <p:extLst>
      <p:ext uri="{BB962C8B-B14F-4D97-AF65-F5344CB8AC3E}">
        <p14:creationId xmlns:p14="http://schemas.microsoft.com/office/powerpoint/2010/main" val="416266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7"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0" fill="hold"/>
                                        <p:tgtEl>
                                          <p:spTgt spid="6"/>
                                        </p:tgtEl>
                                        <p:attrNameLst>
                                          <p:attrName>ppt_x</p:attrName>
                                        </p:attrNameLst>
                                      </p:cBhvr>
                                      <p:tavLst>
                                        <p:tav tm="0">
                                          <p:val>
                                            <p:strVal val="#ppt_x"/>
                                          </p:val>
                                        </p:tav>
                                        <p:tav tm="100000">
                                          <p:val>
                                            <p:strVal val="#ppt_x"/>
                                          </p:val>
                                        </p:tav>
                                      </p:tavLst>
                                    </p:anim>
                                    <p:anim calcmode="lin" valueType="num">
                                      <p:cBhvr additive="base">
                                        <p:cTn id="19" dur="5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1917</a:t>
            </a:r>
            <a:r>
              <a:rPr lang="zh-CN" altLang="en-US" dirty="0"/>
              <a:t>年，希伯</a:t>
            </a:r>
            <a:r>
              <a:rPr lang="en-US" altLang="zh-CN" dirty="0"/>
              <a:t>·</a:t>
            </a:r>
            <a:r>
              <a:rPr lang="zh-CN" altLang="en-US" dirty="0"/>
              <a:t>柯蒂斯观测到</a:t>
            </a:r>
            <a:r>
              <a:rPr lang="en-US" altLang="zh-CN" dirty="0"/>
              <a:t>M31</a:t>
            </a:r>
            <a:r>
              <a:rPr lang="zh-CN" altLang="en-US" dirty="0"/>
              <a:t>内的一颗新星，搜寻照相的记录又找到了</a:t>
            </a:r>
            <a:r>
              <a:rPr lang="en-US" altLang="zh-CN" dirty="0"/>
              <a:t>11</a:t>
            </a:r>
            <a:r>
              <a:rPr lang="zh-CN" altLang="en-US" dirty="0"/>
              <a:t>颗。柯蒂斯注意到这些新星的平均光度约为</a:t>
            </a:r>
            <a:r>
              <a:rPr lang="en-US" altLang="zh-CN" dirty="0"/>
              <a:t>10</a:t>
            </a:r>
            <a:r>
              <a:rPr lang="zh-CN" altLang="en-US" dirty="0"/>
              <a:t>等，远低于发生在银河系内的星等。</a:t>
            </a:r>
            <a:endParaRPr lang="en-US" altLang="zh-CN" dirty="0" smtClean="0"/>
          </a:p>
          <a:p>
            <a:r>
              <a:rPr lang="en-US" altLang="zh-CN" dirty="0" smtClean="0"/>
              <a:t>1924~1925</a:t>
            </a:r>
            <a:r>
              <a:rPr lang="zh-CN" altLang="en-US" dirty="0"/>
              <a:t>年，哈勃在照相底片上证认出仙女座星系旋臂上的造父变星，并根据周光关系算出距离，确认它是银河系之外的恒星</a:t>
            </a:r>
            <a:r>
              <a:rPr lang="zh-CN" altLang="en-US" dirty="0" smtClean="0"/>
              <a:t>系统。</a:t>
            </a:r>
            <a:endParaRPr lang="en-US" altLang="zh-CN" dirty="0" smtClean="0"/>
          </a:p>
          <a:p>
            <a:r>
              <a:rPr lang="en-US" altLang="zh-CN" dirty="0" smtClean="0"/>
              <a:t>1929</a:t>
            </a:r>
            <a:r>
              <a:rPr lang="zh-CN" altLang="en-US" dirty="0" smtClean="0"/>
              <a:t>年，哈勃通过研究大量星系发现，河外星系的退行速度与距离我们的远近有关，距离我们越远退行速度越大，并得出了哈勃定律</a:t>
            </a:r>
            <a:r>
              <a:rPr lang="en-US" altLang="zh-CN" dirty="0" smtClean="0"/>
              <a:t>v=</a:t>
            </a:r>
            <a:r>
              <a:rPr lang="en-US" altLang="zh-CN" dirty="0" err="1" smtClean="0"/>
              <a:t>Hr</a:t>
            </a:r>
            <a:endParaRPr lang="en-US" altLang="zh-CN" dirty="0"/>
          </a:p>
        </p:txBody>
      </p:sp>
    </p:spTree>
    <p:extLst>
      <p:ext uri="{BB962C8B-B14F-4D97-AF65-F5344CB8AC3E}">
        <p14:creationId xmlns:p14="http://schemas.microsoft.com/office/powerpoint/2010/main" val="385223227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099086"/>
            <a:ext cx="12192000" cy="3072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452796" y="2897382"/>
            <a:ext cx="10515600" cy="1325563"/>
          </a:xfrm>
        </p:spPr>
        <p:txBody>
          <a:bodyPr>
            <a:normAutofit/>
          </a:bodyPr>
          <a:lstStyle/>
          <a:p>
            <a:r>
              <a:rPr lang="en-US" altLang="zh-CN" sz="5400" dirty="0" smtClean="0"/>
              <a:t>PART 06  </a:t>
            </a:r>
            <a:r>
              <a:rPr lang="zh-CN" altLang="en-US" sz="5400" dirty="0" smtClean="0"/>
              <a:t>宇宙的演化（现代宇宙观）</a:t>
            </a:r>
            <a:endParaRPr lang="zh-CN" altLang="en-US" sz="5400" dirty="0"/>
          </a:p>
        </p:txBody>
      </p:sp>
    </p:spTree>
    <p:extLst>
      <p:ext uri="{BB962C8B-B14F-4D97-AF65-F5344CB8AC3E}">
        <p14:creationId xmlns:p14="http://schemas.microsoft.com/office/powerpoint/2010/main" val="4174421103"/>
      </p:ext>
    </p:extLst>
  </p:cSld>
  <p:clrMapOvr>
    <a:masterClrMapping/>
  </p:clrMapOvr>
  <p:transition spd="slow">
    <p:wip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223" y="2213317"/>
            <a:ext cx="8715935" cy="4447738"/>
          </a:xfrm>
          <a:prstGeom prst="rect">
            <a:avLst/>
          </a:prstGeom>
        </p:spPr>
      </p:pic>
      <p:sp>
        <p:nvSpPr>
          <p:cNvPr id="2" name="标题 1"/>
          <p:cNvSpPr>
            <a:spLocks noGrp="1"/>
          </p:cNvSpPr>
          <p:nvPr>
            <p:ph type="title"/>
          </p:nvPr>
        </p:nvSpPr>
        <p:spPr>
          <a:xfrm>
            <a:off x="838200" y="252427"/>
            <a:ext cx="10515600" cy="1325563"/>
          </a:xfrm>
        </p:spPr>
        <p:txBody>
          <a:bodyPr/>
          <a:lstStyle/>
          <a:p>
            <a:r>
              <a:rPr lang="zh-CN" altLang="en-US" dirty="0" smtClean="0"/>
              <a:t>奥伯斯佯谬</a:t>
            </a:r>
            <a:endParaRPr lang="zh-CN" altLang="en-US" dirty="0"/>
          </a:p>
        </p:txBody>
      </p:sp>
      <p:sp>
        <p:nvSpPr>
          <p:cNvPr id="3" name="内容占位符 2"/>
          <p:cNvSpPr>
            <a:spLocks noGrp="1"/>
          </p:cNvSpPr>
          <p:nvPr>
            <p:ph idx="1"/>
          </p:nvPr>
        </p:nvSpPr>
        <p:spPr>
          <a:xfrm>
            <a:off x="838200" y="1449108"/>
            <a:ext cx="10515600" cy="4351338"/>
          </a:xfrm>
        </p:spPr>
        <p:txBody>
          <a:bodyPr>
            <a:normAutofit/>
          </a:bodyPr>
          <a:lstStyle/>
          <a:p>
            <a:pPr marL="0" indent="0">
              <a:buNone/>
            </a:pPr>
            <a:r>
              <a:rPr lang="zh-CN" altLang="en-US" sz="2000" dirty="0"/>
              <a:t>假如宇宙是稳恒态而无限，而且有无数平均分布的发光星体，则无论望向天上哪一位置都应该见到一粒星体的表面，星与星之间便不应有黑暗的位置，黑夜时整个天都会是光亮的。</a:t>
            </a:r>
          </a:p>
        </p:txBody>
      </p:sp>
    </p:spTree>
    <p:extLst>
      <p:ext uri="{BB962C8B-B14F-4D97-AF65-F5344CB8AC3E}">
        <p14:creationId xmlns:p14="http://schemas.microsoft.com/office/powerpoint/2010/main" val="178867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1917</a:t>
            </a:r>
            <a:r>
              <a:rPr lang="zh-CN" altLang="en-US" dirty="0" smtClean="0"/>
              <a:t>年，爱因斯坦建立了一个有限无界的静态宇宙模型，为保持稳定在引力场方程中添加了一个宇宙项</a:t>
            </a:r>
            <a:endParaRPr lang="en-US" altLang="zh-CN" dirty="0" smtClean="0"/>
          </a:p>
          <a:p>
            <a:r>
              <a:rPr lang="en-US" altLang="zh-CN" dirty="0" smtClean="0"/>
              <a:t>1922</a:t>
            </a:r>
            <a:r>
              <a:rPr lang="zh-CN" altLang="en-US" dirty="0" smtClean="0"/>
              <a:t>年前苏联数学家弗里德曼利用不含宇宙项的引力场方程，提出了一个膨胀的、有限无界的宇宙模型</a:t>
            </a:r>
            <a:endParaRPr lang="en-US" altLang="zh-CN" dirty="0" smtClean="0"/>
          </a:p>
          <a:p>
            <a:r>
              <a:rPr lang="en-US" altLang="zh-CN" dirty="0" smtClean="0"/>
              <a:t>1927</a:t>
            </a:r>
            <a:r>
              <a:rPr lang="zh-CN" altLang="en-US" dirty="0" smtClean="0"/>
              <a:t>年勒梅特同样得出了一个膨胀的宇宙模型</a:t>
            </a:r>
            <a:endParaRPr lang="en-US" altLang="zh-CN" dirty="0" smtClean="0"/>
          </a:p>
          <a:p>
            <a:r>
              <a:rPr lang="en-US" altLang="zh-CN" dirty="0" smtClean="0"/>
              <a:t>1932</a:t>
            </a:r>
            <a:r>
              <a:rPr lang="zh-CN" altLang="en-US" dirty="0" smtClean="0"/>
              <a:t>年勒梅特提出原始宇宙是一个极端高温、极端压缩状态的原始分子，我们的宇宙在一场爆炸中诞生</a:t>
            </a:r>
            <a:endParaRPr lang="en-US" altLang="zh-CN" dirty="0" smtClean="0"/>
          </a:p>
          <a:p>
            <a:r>
              <a:rPr lang="en-US" altLang="zh-CN" dirty="0" smtClean="0"/>
              <a:t>1948</a:t>
            </a:r>
            <a:r>
              <a:rPr lang="zh-CN" altLang="en-US" dirty="0" smtClean="0"/>
              <a:t>年伽莫夫等三人提出了宇宙大爆炸理论，该理论的预言陆续被证实。</a:t>
            </a:r>
            <a:endParaRPr lang="zh-CN" altLang="en-US" dirty="0"/>
          </a:p>
        </p:txBody>
      </p:sp>
    </p:spTree>
    <p:extLst>
      <p:ext uri="{BB962C8B-B14F-4D97-AF65-F5344CB8AC3E}">
        <p14:creationId xmlns:p14="http://schemas.microsoft.com/office/powerpoint/2010/main" val="17957429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73"/>
            <a:ext cx="12192000" cy="6857227"/>
          </a:xfrm>
        </p:spPr>
      </p:pic>
      <p:sp>
        <p:nvSpPr>
          <p:cNvPr id="8" name="矩形 7"/>
          <p:cNvSpPr/>
          <p:nvPr/>
        </p:nvSpPr>
        <p:spPr>
          <a:xfrm>
            <a:off x="678730" y="1517715"/>
            <a:ext cx="4619543" cy="3046988"/>
          </a:xfrm>
          <a:prstGeom prst="rect">
            <a:avLst/>
          </a:prstGeom>
        </p:spPr>
        <p:txBody>
          <a:bodyPr wrap="square">
            <a:spAutoFit/>
          </a:bodyPr>
          <a:lstStyle/>
          <a:p>
            <a:pPr algn="ctr"/>
            <a:r>
              <a:rPr lang="en-US" altLang="zh-CN" sz="9600" b="1" cap="none" spc="0" dirty="0" smtClean="0">
                <a:ln w="22225">
                  <a:solidFill>
                    <a:schemeClr val="accent2"/>
                  </a:solidFill>
                  <a:prstDash val="solid"/>
                </a:ln>
                <a:solidFill>
                  <a:schemeClr val="accent2">
                    <a:lumMod val="60000"/>
                    <a:lumOff val="40000"/>
                  </a:schemeClr>
                </a:solidFill>
                <a:effectLst/>
              </a:rPr>
              <a:t>Thank </a:t>
            </a:r>
            <a:r>
              <a:rPr lang="en-US" altLang="zh-CN" sz="9600" b="1" dirty="0" smtClean="0">
                <a:ln w="22225">
                  <a:solidFill>
                    <a:schemeClr val="accent2"/>
                  </a:solidFill>
                  <a:prstDash val="solid"/>
                </a:ln>
                <a:solidFill>
                  <a:schemeClr val="accent2">
                    <a:lumMod val="60000"/>
                    <a:lumOff val="40000"/>
                  </a:schemeClr>
                </a:solidFill>
              </a:rPr>
              <a:t>you</a:t>
            </a:r>
            <a:endParaRPr lang="zh-CN" altLang="en-US" sz="9600" b="1" cap="none" spc="0" dirty="0">
              <a:ln w="22225">
                <a:solidFill>
                  <a:schemeClr val="accent2"/>
                </a:solidFill>
                <a:prstDash val="solid"/>
              </a:ln>
              <a:solidFill>
                <a:schemeClr val="accent2">
                  <a:lumMod val="60000"/>
                  <a:lumOff val="40000"/>
                </a:schemeClr>
              </a:solidFill>
              <a:effectLst/>
            </a:endParaRPr>
          </a:p>
        </p:txBody>
      </p:sp>
    </p:spTree>
    <p:extLst>
      <p:ext uri="{BB962C8B-B14F-4D97-AF65-F5344CB8AC3E}">
        <p14:creationId xmlns:p14="http://schemas.microsoft.com/office/powerpoint/2010/main" val="33703329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3216</TotalTime>
  <Words>3461</Words>
  <Application>Microsoft Office PowerPoint</Application>
  <PresentationFormat>宽屏</PresentationFormat>
  <Paragraphs>188</Paragraphs>
  <Slides>55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55</vt:i4>
      </vt:variant>
    </vt:vector>
  </HeadingPairs>
  <TitlesOfParts>
    <vt:vector size="60" baseType="lpstr">
      <vt:lpstr>宋体</vt:lpstr>
      <vt:lpstr>Arial</vt:lpstr>
      <vt:lpstr>Calibri</vt:lpstr>
      <vt:lpstr>Calibri Light</vt:lpstr>
      <vt:lpstr>Office 主题</vt:lpstr>
      <vt:lpstr>人类宇宙观的演变</vt:lpstr>
      <vt:lpstr>PowerPoint 演示文稿</vt:lpstr>
      <vt:lpstr>PART 01  中国古代的宇宙观</vt:lpstr>
      <vt:lpstr>PowerPoint 演示文稿</vt:lpstr>
      <vt:lpstr>盖天说</vt:lpstr>
      <vt:lpstr>PowerPoint 演示文稿</vt:lpstr>
      <vt:lpstr>浑天说</vt:lpstr>
      <vt:lpstr>张衡的描述</vt:lpstr>
      <vt:lpstr>PowerPoint 演示文稿</vt:lpstr>
      <vt:lpstr>宣夜说</vt:lpstr>
      <vt:lpstr>PowerPoint 演示文稿</vt:lpstr>
      <vt:lpstr>三垣四象二十八宿</vt:lpstr>
      <vt:lpstr>PART 02  古希腊人的宇宙观</vt:lpstr>
      <vt:lpstr>PowerPoint 演示文稿</vt:lpstr>
      <vt:lpstr>泰勒斯（约624 BC -546 BC ）</vt:lpstr>
      <vt:lpstr>PowerPoint 演示文稿</vt:lpstr>
      <vt:lpstr>泰勒斯在天文学上的贡献</vt:lpstr>
      <vt:lpstr>PowerPoint 演示文稿</vt:lpstr>
      <vt:lpstr>阿那克西曼德（ Anaximander ,610 BC—545 BC ）</vt:lpstr>
      <vt:lpstr>毕达哥拉斯（580 BC -500 BC ）</vt:lpstr>
      <vt:lpstr>欧多克斯（ Eudoxus of Cnidus ,408 BC - 355 BC）</vt:lpstr>
      <vt:lpstr>亚里士多德（384 BC -322 BC ）</vt:lpstr>
      <vt:lpstr>阿里斯塔克（310 BC --230 BC ）</vt:lpstr>
      <vt:lpstr>希帕克斯（190BC – 125BC）</vt:lpstr>
      <vt:lpstr>小结</vt:lpstr>
      <vt:lpstr>PART 03  地心说下的宇宙观</vt:lpstr>
      <vt:lpstr>PowerPoint 演示文稿</vt:lpstr>
      <vt:lpstr>托勒密——地心说的集大成者</vt:lpstr>
      <vt:lpstr>PowerPoint 演示文稿</vt:lpstr>
      <vt:lpstr>PowerPoint 演示文稿</vt:lpstr>
      <vt:lpstr>PowerPoint 演示文稿</vt:lpstr>
      <vt:lpstr>PART 04  日心说下的宇宙观</vt:lpstr>
      <vt:lpstr>达芬奇（Leonardo da Vinci,1452—1519）</vt:lpstr>
      <vt:lpstr>哥白尼（ Kopernik , 1473,1543年）</vt:lpstr>
      <vt:lpstr>PowerPoint 演示文稿</vt:lpstr>
      <vt:lpstr>主要观点</vt:lpstr>
      <vt:lpstr>当时存在的理论缺陷</vt:lpstr>
      <vt:lpstr>伽利略（1564,1642）</vt:lpstr>
      <vt:lpstr>PowerPoint 演示文稿</vt:lpstr>
      <vt:lpstr>托勒密模型</vt:lpstr>
      <vt:lpstr>日心说模型</vt:lpstr>
      <vt:lpstr>观测大师-第谷（1546,1601）</vt:lpstr>
      <vt:lpstr>天空立法者-开普勒（1571,1630）</vt:lpstr>
      <vt:lpstr>正多面体宇宙</vt:lpstr>
      <vt:lpstr>PowerPoint 演示文稿</vt:lpstr>
      <vt:lpstr>PowerPoint 演示文稿</vt:lpstr>
      <vt:lpstr>牛顿（1643,1727） </vt:lpstr>
      <vt:lpstr>PowerPoint 演示文稿</vt:lpstr>
      <vt:lpstr>PART 05  银河系和河外星系</vt:lpstr>
      <vt:lpstr>研究历史</vt:lpstr>
      <vt:lpstr>PowerPoint 演示文稿</vt:lpstr>
      <vt:lpstr>PART 06  宇宙的演化（现代宇宙观）</vt:lpstr>
      <vt:lpstr>奥伯斯佯谬</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HHX</dc:creator>
  <cp:lastModifiedBy>HHX</cp:lastModifiedBy>
  <cp:revision>92</cp:revision>
  <dcterms:created xsi:type="dcterms:W3CDTF">2019-12-17T14:57:05Z</dcterms:created>
  <dcterms:modified xsi:type="dcterms:W3CDTF">2020-05-30T12:19:48Z</dcterms:modified>
</cp:coreProperties>
</file>